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10/20/2026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B3A4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/>
          <p:cNvSpPr/>
          <p:nvPr/>
        </p:nvSpPr>
        <p:spPr>
          <a:xfrm>
            <a:off x="8229600" y="-1463040"/>
            <a:ext cx="5669280" cy="5669280"/>
          </a:xfrm>
          <a:prstGeom prst="ellipse">
            <a:avLst/>
          </a:prstGeom>
          <a:solidFill>
            <a:srgbClr val="2449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-914400" y="4937760"/>
            <a:ext cx="2926080" cy="2926080"/>
          </a:xfrm>
          <a:prstGeom prst="ellipse">
            <a:avLst/>
          </a:prstGeom>
          <a:solidFill>
            <a:srgbClr val="2449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Item 3" descr="tawla-app-ic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640080"/>
            <a:ext cx="548640" cy="548640"/>
          </a:xfrm>
          <a:prstGeom prst="rect">
            <a:avLst/>
          </a:prstGeom>
        </p:spPr>
      </p:pic>
      <p:sp>
        <p:nvSpPr>
          <p:cNvPr id="5" name="Item 4"/>
          <p:cNvSpPr txBox="1"/>
          <p:nvPr/>
        </p:nvSpPr>
        <p:spPr>
          <a:xfrm>
            <a:off x="1417320" y="658368"/>
            <a:ext cx="3657600" cy="54864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2400" b="1">
                <a:solidFill>
                  <a:srgbClr val="FDF9F2"/>
                </a:solidFill>
                <a:latin typeface="Segoe UI Black"/>
              </a:rPr>
              <a:t>Tawla</a:t>
            </a:r>
          </a:p>
        </p:txBody>
      </p:sp>
      <p:sp>
        <p:nvSpPr>
          <p:cNvPr id="6" name="Item 5"/>
          <p:cNvSpPr txBox="1"/>
          <p:nvPr/>
        </p:nvSpPr>
        <p:spPr>
          <a:xfrm>
            <a:off x="731520" y="1600200"/>
            <a:ext cx="5943600" cy="29260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95000"/>
              </a:lnSpc>
            </a:pPr>
            <a:r>
              <a:rPr sz="5000" b="1">
                <a:solidFill>
                  <a:srgbClr val="FDF9F2"/>
                </a:solidFill>
                <a:latin typeface="Segoe UI Black"/>
              </a:rPr>
              <a:t>Tap. Order. </a:t>
            </a:r>
            <a:r>
              <a:rPr sz="5000" b="1">
                <a:solidFill>
                  <a:srgbClr val="FFDBD1"/>
                </a:solidFill>
                <a:latin typeface="Segoe UI Black"/>
              </a:rPr>
              <a:t>It's already at the counter.</a:t>
            </a:r>
          </a:p>
        </p:txBody>
      </p:sp>
      <p:sp>
        <p:nvSpPr>
          <p:cNvPr id="7" name="Item 6"/>
          <p:cNvSpPr txBox="1"/>
          <p:nvPr/>
        </p:nvSpPr>
        <p:spPr>
          <a:xfrm>
            <a:off x="731520" y="4572000"/>
            <a:ext cx="5486400" cy="12801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900" b="0">
                <a:solidFill>
                  <a:srgbClr val="FDF9F2"/>
                </a:solidFill>
                <a:latin typeface="Segoe UI"/>
              </a:rPr>
              <a:t>The café system with QR ordering, a cashier till and an owner dashboard, in Arabic and English.</a:t>
            </a:r>
          </a:p>
        </p:txBody>
      </p:sp>
      <p:sp>
        <p:nvSpPr>
          <p:cNvPr id="8" name="Item 7"/>
          <p:cNvSpPr/>
          <p:nvPr/>
        </p:nvSpPr>
        <p:spPr>
          <a:xfrm>
            <a:off x="6858000" y="868680"/>
            <a:ext cx="2514600" cy="5120640"/>
          </a:xfrm>
          <a:prstGeom prst="roundRect">
            <a:avLst>
              <a:gd name="adj" fmla="val 14000"/>
            </a:avLst>
          </a:prstGeom>
          <a:solidFill>
            <a:srgbClr val="FDF9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Item 8"/>
          <p:cNvSpPr txBox="1"/>
          <p:nvPr/>
        </p:nvSpPr>
        <p:spPr>
          <a:xfrm>
            <a:off x="7132320" y="1051560"/>
            <a:ext cx="201168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400" b="1">
                <a:solidFill>
                  <a:srgbClr val="1C1C18"/>
                </a:solidFill>
                <a:latin typeface="Segoe UI"/>
              </a:rPr>
              <a:t>Menu</a:t>
            </a:r>
          </a:p>
        </p:txBody>
      </p:sp>
      <p:sp>
        <p:nvSpPr>
          <p:cNvPr id="10" name="Item 9"/>
          <p:cNvSpPr/>
          <p:nvPr/>
        </p:nvSpPr>
        <p:spPr>
          <a:xfrm>
            <a:off x="7059168" y="1645919"/>
            <a:ext cx="2112264" cy="777240"/>
          </a:xfrm>
          <a:prstGeom prst="roundRect">
            <a:avLst>
              <a:gd name="adj" fmla="val 18000"/>
            </a:avLst>
          </a:prstGeom>
          <a:solidFill>
            <a:srgbClr val="F1ED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Item 10"/>
          <p:cNvSpPr/>
          <p:nvPr/>
        </p:nvSpPr>
        <p:spPr>
          <a:xfrm>
            <a:off x="7242048" y="1847088"/>
            <a:ext cx="1097280" cy="137160"/>
          </a:xfrm>
          <a:prstGeom prst="roundRect">
            <a:avLst>
              <a:gd name="adj" fmla="val 50000"/>
            </a:avLst>
          </a:prstGeom>
          <a:solidFill>
            <a:srgbClr val="D9D2C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Item 11"/>
          <p:cNvSpPr/>
          <p:nvPr/>
        </p:nvSpPr>
        <p:spPr>
          <a:xfrm>
            <a:off x="7242048" y="2084831"/>
            <a:ext cx="731520" cy="109728"/>
          </a:xfrm>
          <a:prstGeom prst="roundRect">
            <a:avLst>
              <a:gd name="adj" fmla="val 50000"/>
            </a:avLst>
          </a:prstGeom>
          <a:solidFill>
            <a:srgbClr val="E8E3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Item 12"/>
          <p:cNvSpPr/>
          <p:nvPr/>
        </p:nvSpPr>
        <p:spPr>
          <a:xfrm>
            <a:off x="8641080" y="1828799"/>
            <a:ext cx="411480" cy="411480"/>
          </a:xfrm>
          <a:prstGeom prst="ellipse">
            <a:avLst/>
          </a:prstGeom>
          <a:solidFill>
            <a:srgbClr val="BA53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rIns="45720" rtlCol="0" anchor="ctr"/>
          <a:lstStyle/>
          <a:p>
            <a:pPr algn="ctr"/>
            <a:r>
              <a:rPr sz="1600" b="1">
                <a:solidFill>
                  <a:srgbClr val="FFFFFF"/>
                </a:solidFill>
                <a:latin typeface="Segoe UI"/>
              </a:rPr>
              <a:t>+</a:t>
            </a:r>
          </a:p>
        </p:txBody>
      </p:sp>
      <p:sp>
        <p:nvSpPr>
          <p:cNvPr id="14" name="Item 13"/>
          <p:cNvSpPr/>
          <p:nvPr/>
        </p:nvSpPr>
        <p:spPr>
          <a:xfrm>
            <a:off x="7059168" y="2606039"/>
            <a:ext cx="2112264" cy="777240"/>
          </a:xfrm>
          <a:prstGeom prst="roundRect">
            <a:avLst>
              <a:gd name="adj" fmla="val 18000"/>
            </a:avLst>
          </a:prstGeom>
          <a:solidFill>
            <a:srgbClr val="F1ED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Item 14"/>
          <p:cNvSpPr/>
          <p:nvPr/>
        </p:nvSpPr>
        <p:spPr>
          <a:xfrm>
            <a:off x="7242048" y="2807208"/>
            <a:ext cx="1005839" cy="137160"/>
          </a:xfrm>
          <a:prstGeom prst="roundRect">
            <a:avLst>
              <a:gd name="adj" fmla="val 50000"/>
            </a:avLst>
          </a:prstGeom>
          <a:solidFill>
            <a:srgbClr val="D9D2C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Item 15"/>
          <p:cNvSpPr/>
          <p:nvPr/>
        </p:nvSpPr>
        <p:spPr>
          <a:xfrm>
            <a:off x="7242048" y="3044951"/>
            <a:ext cx="731520" cy="109728"/>
          </a:xfrm>
          <a:prstGeom prst="roundRect">
            <a:avLst>
              <a:gd name="adj" fmla="val 50000"/>
            </a:avLst>
          </a:prstGeom>
          <a:solidFill>
            <a:srgbClr val="E8E3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Item 16"/>
          <p:cNvSpPr/>
          <p:nvPr/>
        </p:nvSpPr>
        <p:spPr>
          <a:xfrm>
            <a:off x="8641080" y="2788920"/>
            <a:ext cx="411480" cy="411480"/>
          </a:xfrm>
          <a:prstGeom prst="ellipse">
            <a:avLst/>
          </a:prstGeom>
          <a:solidFill>
            <a:srgbClr val="BA53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rIns="45720" rtlCol="0" anchor="ctr"/>
          <a:lstStyle/>
          <a:p>
            <a:pPr algn="ctr"/>
            <a:r>
              <a:rPr sz="1600" b="1">
                <a:solidFill>
                  <a:srgbClr val="FFFFFF"/>
                </a:solidFill>
                <a:latin typeface="Segoe UI"/>
              </a:rPr>
              <a:t>+</a:t>
            </a:r>
          </a:p>
        </p:txBody>
      </p:sp>
      <p:sp>
        <p:nvSpPr>
          <p:cNvPr id="18" name="Item 17"/>
          <p:cNvSpPr/>
          <p:nvPr/>
        </p:nvSpPr>
        <p:spPr>
          <a:xfrm>
            <a:off x="7059168" y="3566160"/>
            <a:ext cx="2112264" cy="777240"/>
          </a:xfrm>
          <a:prstGeom prst="roundRect">
            <a:avLst>
              <a:gd name="adj" fmla="val 18000"/>
            </a:avLst>
          </a:prstGeom>
          <a:solidFill>
            <a:srgbClr val="F1ED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Item 18"/>
          <p:cNvSpPr/>
          <p:nvPr/>
        </p:nvSpPr>
        <p:spPr>
          <a:xfrm>
            <a:off x="7242048" y="3767328"/>
            <a:ext cx="914400" cy="137160"/>
          </a:xfrm>
          <a:prstGeom prst="roundRect">
            <a:avLst>
              <a:gd name="adj" fmla="val 50000"/>
            </a:avLst>
          </a:prstGeom>
          <a:solidFill>
            <a:srgbClr val="D9D2C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Item 19"/>
          <p:cNvSpPr/>
          <p:nvPr/>
        </p:nvSpPr>
        <p:spPr>
          <a:xfrm>
            <a:off x="7242048" y="4005072"/>
            <a:ext cx="731520" cy="109728"/>
          </a:xfrm>
          <a:prstGeom prst="roundRect">
            <a:avLst>
              <a:gd name="adj" fmla="val 50000"/>
            </a:avLst>
          </a:prstGeom>
          <a:solidFill>
            <a:srgbClr val="E8E3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Item 20"/>
          <p:cNvSpPr/>
          <p:nvPr/>
        </p:nvSpPr>
        <p:spPr>
          <a:xfrm>
            <a:off x="8641080" y="3749039"/>
            <a:ext cx="411480" cy="411480"/>
          </a:xfrm>
          <a:prstGeom prst="ellipse">
            <a:avLst/>
          </a:prstGeom>
          <a:solidFill>
            <a:srgbClr val="BA53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rIns="45720" rtlCol="0" anchor="ctr"/>
          <a:lstStyle/>
          <a:p>
            <a:pPr algn="ctr"/>
            <a:r>
              <a:rPr sz="1600" b="1">
                <a:solidFill>
                  <a:srgbClr val="FFFFFF"/>
                </a:solidFill>
                <a:latin typeface="Segoe UI"/>
              </a:rPr>
              <a:t>+</a:t>
            </a:r>
          </a:p>
        </p:txBody>
      </p:sp>
      <p:sp>
        <p:nvSpPr>
          <p:cNvPr id="22" name="Item 21"/>
          <p:cNvSpPr/>
          <p:nvPr/>
        </p:nvSpPr>
        <p:spPr>
          <a:xfrm>
            <a:off x="7059168" y="5257800"/>
            <a:ext cx="2112264" cy="548640"/>
          </a:xfrm>
          <a:prstGeom prst="roundRect">
            <a:avLst>
              <a:gd name="adj" fmla="val 50000"/>
            </a:avLst>
          </a:prstGeom>
          <a:solidFill>
            <a:srgbClr val="BA53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rIns="45720"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Segoe UI"/>
              </a:rPr>
              <a:t>Send order</a:t>
            </a:r>
          </a:p>
        </p:txBody>
      </p:sp>
      <p:sp>
        <p:nvSpPr>
          <p:cNvPr id="23" name="Item 22"/>
          <p:cNvSpPr/>
          <p:nvPr/>
        </p:nvSpPr>
        <p:spPr>
          <a:xfrm>
            <a:off x="9692640" y="1554480"/>
            <a:ext cx="2194560" cy="1051560"/>
          </a:xfrm>
          <a:prstGeom prst="roundRect">
            <a:avLst>
              <a:gd name="adj" fmla="val 12000"/>
            </a:avLst>
          </a:prstGeom>
          <a:solidFill>
            <a:srgbClr val="FDF9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Item 23"/>
          <p:cNvSpPr txBox="1"/>
          <p:nvPr/>
        </p:nvSpPr>
        <p:spPr>
          <a:xfrm>
            <a:off x="9829800" y="1627632"/>
            <a:ext cx="1280160" cy="91440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500" b="1">
                <a:solidFill>
                  <a:srgbClr val="1C1C18"/>
                </a:solidFill>
                <a:latin typeface="Segoe UI"/>
              </a:rPr>
              <a:t>Table 3</a:t>
            </a:r>
          </a:p>
        </p:txBody>
      </p:sp>
      <p:sp>
        <p:nvSpPr>
          <p:cNvPr id="25" name="Item 24"/>
          <p:cNvSpPr/>
          <p:nvPr/>
        </p:nvSpPr>
        <p:spPr>
          <a:xfrm>
            <a:off x="9857232" y="2267712"/>
            <a:ext cx="1188720" cy="274320"/>
          </a:xfrm>
          <a:prstGeom prst="roundRect">
            <a:avLst>
              <a:gd name="adj" fmla="val 50000"/>
            </a:avLst>
          </a:prstGeom>
          <a:solidFill>
            <a:srgbClr val="4F7A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rIns="45720" rtlCol="0" anchor="ctr"/>
          <a:lstStyle/>
          <a:p>
            <a:pPr algn="ctr"/>
            <a:r>
              <a:rPr sz="1000" b="1">
                <a:solidFill>
                  <a:srgbClr val="FFFFFF"/>
                </a:solidFill>
                <a:latin typeface="Segoe UI"/>
              </a:rPr>
              <a:t>FREE</a:t>
            </a:r>
          </a:p>
        </p:txBody>
      </p:sp>
      <p:sp>
        <p:nvSpPr>
          <p:cNvPr id="26" name="Item 25"/>
          <p:cNvSpPr/>
          <p:nvPr/>
        </p:nvSpPr>
        <p:spPr>
          <a:xfrm>
            <a:off x="9692640" y="2926080"/>
            <a:ext cx="2194560" cy="1051560"/>
          </a:xfrm>
          <a:prstGeom prst="roundRect">
            <a:avLst>
              <a:gd name="adj" fmla="val 12000"/>
            </a:avLst>
          </a:prstGeom>
          <a:solidFill>
            <a:srgbClr val="FFDBD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Item 26"/>
          <p:cNvSpPr txBox="1"/>
          <p:nvPr/>
        </p:nvSpPr>
        <p:spPr>
          <a:xfrm>
            <a:off x="9829800" y="2999232"/>
            <a:ext cx="1280160" cy="91440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500" b="1">
                <a:solidFill>
                  <a:srgbClr val="1C1C18"/>
                </a:solidFill>
                <a:latin typeface="Segoe UI"/>
              </a:rPr>
              <a:t>Table 4</a:t>
            </a:r>
          </a:p>
        </p:txBody>
      </p:sp>
      <p:sp>
        <p:nvSpPr>
          <p:cNvPr id="28" name="Item 27"/>
          <p:cNvSpPr/>
          <p:nvPr/>
        </p:nvSpPr>
        <p:spPr>
          <a:xfrm>
            <a:off x="9857232" y="3639312"/>
            <a:ext cx="1188720" cy="274320"/>
          </a:xfrm>
          <a:prstGeom prst="roundRect">
            <a:avLst>
              <a:gd name="adj" fmla="val 50000"/>
            </a:avLst>
          </a:prstGeom>
          <a:solidFill>
            <a:srgbClr val="BA53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rIns="45720" rtlCol="0" anchor="ctr"/>
          <a:lstStyle/>
          <a:p>
            <a:pPr algn="ctr"/>
            <a:r>
              <a:rPr sz="1000" b="1">
                <a:solidFill>
                  <a:srgbClr val="FFFFFF"/>
                </a:solidFill>
                <a:latin typeface="Segoe UI"/>
              </a:rPr>
              <a:t>NEW</a:t>
            </a:r>
          </a:p>
        </p:txBody>
      </p:sp>
      <p:sp>
        <p:nvSpPr>
          <p:cNvPr id="29" name="Item 28"/>
          <p:cNvSpPr/>
          <p:nvPr/>
        </p:nvSpPr>
        <p:spPr>
          <a:xfrm>
            <a:off x="9692640" y="4297680"/>
            <a:ext cx="2194560" cy="1051560"/>
          </a:xfrm>
          <a:prstGeom prst="roundRect">
            <a:avLst>
              <a:gd name="adj" fmla="val 12000"/>
            </a:avLst>
          </a:prstGeom>
          <a:solidFill>
            <a:srgbClr val="FDF9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Item 29"/>
          <p:cNvSpPr txBox="1"/>
          <p:nvPr/>
        </p:nvSpPr>
        <p:spPr>
          <a:xfrm>
            <a:off x="9829800" y="4370832"/>
            <a:ext cx="1280160" cy="91440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500" b="1">
                <a:solidFill>
                  <a:srgbClr val="1C1C18"/>
                </a:solidFill>
                <a:latin typeface="Segoe UI"/>
              </a:rPr>
              <a:t>Table 5</a:t>
            </a:r>
          </a:p>
        </p:txBody>
      </p:sp>
      <p:sp>
        <p:nvSpPr>
          <p:cNvPr id="31" name="Item 30"/>
          <p:cNvSpPr/>
          <p:nvPr/>
        </p:nvSpPr>
        <p:spPr>
          <a:xfrm>
            <a:off x="9857232" y="5010912"/>
            <a:ext cx="1188720" cy="274320"/>
          </a:xfrm>
          <a:prstGeom prst="roundRect">
            <a:avLst>
              <a:gd name="adj" fmla="val 50000"/>
            </a:avLst>
          </a:prstGeom>
          <a:solidFill>
            <a:srgbClr val="1B3A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rIns="45720" rtlCol="0" anchor="ctr"/>
          <a:lstStyle/>
          <a:p>
            <a:pPr algn="ctr"/>
            <a:r>
              <a:rPr sz="1000" b="1">
                <a:solidFill>
                  <a:srgbClr val="FFFFFF"/>
                </a:solidFill>
                <a:latin typeface="Segoe UI"/>
              </a:rPr>
              <a:t>SERVING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4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8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4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42" presetClass="entr" presetSubtype="0" fill="hold" grpId="0" nodeType="withEffect">
                                  <p:stCondLst>
                                    <p:cond delay="14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6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" dur="56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6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36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48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42" presetClass="entr" presetSubtype="0" fill="hold" grpId="0" nodeType="withEffect">
                                  <p:stCondLst>
                                    <p:cond delay="24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6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56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56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44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44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46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44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48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4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48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44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52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10" presetClass="entr" presetSubtype="0" fill="hold" grpId="0" nodeType="withEffect">
                                  <p:stCondLst>
                                    <p:cond delay="51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44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10" presetClass="entr" presetSubtype="0" fill="hold" grpId="0" nodeType="withEffect">
                                  <p:stCondLst>
                                    <p:cond delay="53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44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10" presetClass="entr" presetSubtype="0" fill="hold" grpId="0" nodeType="withEffect">
                                  <p:stCondLst>
                                    <p:cond delay="53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44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grpId="0" nodeType="withEffect">
                                  <p:stCondLst>
                                    <p:cond delay="57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grpId="0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44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grpId="0" nodeType="withEffect">
                                  <p:stCondLst>
                                    <p:cond delay="58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44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" presetID="10" presetClass="entr" presetSubtype="0" fill="hold" grpId="0" nodeType="withEffect">
                                  <p:stCondLst>
                                    <p:cond delay="58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44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0" presetID="10" presetClass="entr" presetSubtype="0" fill="hold" grpId="0" nodeType="withEffect">
                                  <p:stCondLst>
                                    <p:cond delay="62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3" presetID="10" presetClass="entr" presetSubtype="0" fill="hold" grpId="0" nodeType="withEffect">
                                  <p:stCondLst>
                                    <p:cond delay="68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6" presetID="42" presetClass="entr" presetSubtype="0" fill="hold" grpId="0" nodeType="withEffect">
                                  <p:stCondLst>
                                    <p:cond delay="84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8" dur="44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9" dur="44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0" dur="44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1" presetID="42" presetClass="entr" presetSubtype="0" fill="hold" grpId="0" nodeType="withEffect">
                                  <p:stCondLst>
                                    <p:cond delay="84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3" dur="44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4" dur="44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5" dur="44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6" presetID="42" presetClass="entr" presetSubtype="0" fill="hold" grpId="0" nodeType="withEffect">
                                  <p:stCondLst>
                                    <p:cond delay="84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8" dur="44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9" dur="44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0" dur="44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1" presetID="42" presetClass="entr" presetSubtype="0" fill="hold" grpId="0" nodeType="withEffect">
                                  <p:stCondLst>
                                    <p:cond delay="92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3" dur="44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4" dur="44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5" dur="44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6" presetID="42" presetClass="entr" presetSubtype="0" fill="hold" grpId="0" nodeType="withEffect">
                                  <p:stCondLst>
                                    <p:cond delay="92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8" dur="44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9" dur="44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0" dur="44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1" presetID="42" presetClass="entr" presetSubtype="0" fill="hold" grpId="0" nodeType="withEffect">
                                  <p:stCondLst>
                                    <p:cond delay="92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3" dur="44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4" dur="44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5" dur="44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6" presetID="6" presetClass="emph" presetSubtype="0" repeatCount="2000" fill="hold" grpId="1" nodeType="withEffect">
                                  <p:stCondLst>
                                    <p:cond delay="1660"/>
                                  </p:stCondLst>
                                  <p:childTnLst>
                                    <p:animScale>
                                      <p:cBhvr>
                                        <p:cTn id="97" dur="700" fill="hold"/>
                                        <p:tgtEl>
                                          <p:spTgt spid="28"/>
                                        </p:tgtEl>
                                      </p:cBhvr>
                                      <p:by x="150000" y="150000"/>
                                    </p:animScale>
                                  </p:childTnLst>
                                </p:cTn>
                              </p:par>
                              <p:par>
                                <p:cTn id="98" presetID="42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0" dur="44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1" dur="44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2" dur="44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3" presetID="42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5" dur="44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6" dur="44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7" dur="44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8" presetID="42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0" dur="44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11" dur="44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2" dur="44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6" grpId="0"/>
      <p:bldP spid="7" grpId="0"/>
      <p:bldP spid="8" grpId="0" animBg="1"/>
      <p:bldP spid="9" grpId="0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/>
      <p:bldP spid="25" grpId="0" animBg="1"/>
      <p:bldP spid="26" grpId="0" animBg="1"/>
      <p:bldP spid="27" grpId="0"/>
      <p:bldP spid="28" grpId="0" animBg="1"/>
      <p:bldP spid="28" grpId="1" animBg="1"/>
      <p:bldP spid="29" grpId="0" animBg="1"/>
      <p:bldP spid="30" grpId="0"/>
      <p:bldP spid="31" grpId="0" animBg="1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DF9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Item 1"/>
          <p:cNvSpPr txBox="1"/>
          <p:nvPr/>
        </p:nvSpPr>
        <p:spPr>
          <a:xfrm>
            <a:off x="731520" y="640080"/>
            <a:ext cx="1005840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500" b="1">
                <a:solidFill>
                  <a:srgbClr val="BA5333"/>
                </a:solidFill>
                <a:latin typeface="Segoe UI"/>
              </a:rPr>
              <a:t>THE PROBLEM</a:t>
            </a:r>
          </a:p>
        </p:txBody>
      </p:sp>
      <p:sp>
        <p:nvSpPr>
          <p:cNvPr id="3" name="Item 2"/>
          <p:cNvSpPr txBox="1"/>
          <p:nvPr/>
        </p:nvSpPr>
        <p:spPr>
          <a:xfrm>
            <a:off x="731520" y="1097280"/>
            <a:ext cx="10515600" cy="16459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4400" b="1">
                <a:solidFill>
                  <a:srgbClr val="1C1C18"/>
                </a:solidFill>
                <a:latin typeface="Segoe UI Black"/>
              </a:rPr>
              <a:t>Slow service costs you customers</a:t>
            </a:r>
          </a:p>
        </p:txBody>
      </p:sp>
      <p:sp>
        <p:nvSpPr>
          <p:cNvPr id="4" name="Item 3"/>
          <p:cNvSpPr/>
          <p:nvPr/>
        </p:nvSpPr>
        <p:spPr>
          <a:xfrm>
            <a:off x="731520" y="2926080"/>
            <a:ext cx="3474720" cy="3017520"/>
          </a:xfrm>
          <a:prstGeom prst="roundRect">
            <a:avLst>
              <a:gd name="adj" fmla="val 12000"/>
            </a:avLst>
          </a:prstGeom>
          <a:solidFill>
            <a:srgbClr val="F1ED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Item 4"/>
          <p:cNvSpPr/>
          <p:nvPr/>
        </p:nvSpPr>
        <p:spPr>
          <a:xfrm>
            <a:off x="1051560" y="3246120"/>
            <a:ext cx="822960" cy="822960"/>
          </a:xfrm>
          <a:prstGeom prst="ellipse">
            <a:avLst/>
          </a:prstGeom>
          <a:solidFill>
            <a:srgbClr val="FFDBD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Oval 5"/>
          <p:cNvSpPr/>
          <p:nvPr/>
        </p:nvSpPr>
        <p:spPr>
          <a:xfrm>
            <a:off x="1280160" y="3474720"/>
            <a:ext cx="365760" cy="365760"/>
          </a:xfrm>
          <a:prstGeom prst="ellipse">
            <a:avLst/>
          </a:prstGeom>
          <a:solidFill>
            <a:srgbClr val="BA53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Item 6"/>
          <p:cNvSpPr txBox="1"/>
          <p:nvPr/>
        </p:nvSpPr>
        <p:spPr>
          <a:xfrm>
            <a:off x="1005840" y="4297680"/>
            <a:ext cx="2926080" cy="15544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200" b="1">
                <a:solidFill>
                  <a:srgbClr val="1C1C18"/>
                </a:solidFill>
                <a:latin typeface="Segoe UI"/>
              </a:rPr>
              <a:t>Guests wait to catch a waiter just to order.</a:t>
            </a:r>
          </a:p>
        </p:txBody>
      </p:sp>
      <p:sp>
        <p:nvSpPr>
          <p:cNvPr id="8" name="Item 7"/>
          <p:cNvSpPr/>
          <p:nvPr/>
        </p:nvSpPr>
        <p:spPr>
          <a:xfrm>
            <a:off x="4434840" y="2926080"/>
            <a:ext cx="3474720" cy="3017520"/>
          </a:xfrm>
          <a:prstGeom prst="roundRect">
            <a:avLst>
              <a:gd name="adj" fmla="val 12000"/>
            </a:avLst>
          </a:prstGeom>
          <a:solidFill>
            <a:srgbClr val="F1ED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Item 8"/>
          <p:cNvSpPr/>
          <p:nvPr/>
        </p:nvSpPr>
        <p:spPr>
          <a:xfrm>
            <a:off x="4754879" y="3246120"/>
            <a:ext cx="822960" cy="822960"/>
          </a:xfrm>
          <a:prstGeom prst="ellipse">
            <a:avLst/>
          </a:prstGeom>
          <a:solidFill>
            <a:srgbClr val="FFDBD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Oval 9"/>
          <p:cNvSpPr/>
          <p:nvPr/>
        </p:nvSpPr>
        <p:spPr>
          <a:xfrm>
            <a:off x="4983479" y="3474720"/>
            <a:ext cx="365760" cy="365760"/>
          </a:xfrm>
          <a:prstGeom prst="ellipse">
            <a:avLst/>
          </a:prstGeom>
          <a:solidFill>
            <a:srgbClr val="BA53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Item 10"/>
          <p:cNvSpPr txBox="1"/>
          <p:nvPr/>
        </p:nvSpPr>
        <p:spPr>
          <a:xfrm>
            <a:off x="4709159" y="4297680"/>
            <a:ext cx="2926080" cy="15544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200" b="1">
                <a:solidFill>
                  <a:srgbClr val="1C1C18"/>
                </a:solidFill>
                <a:latin typeface="Segoe UI"/>
              </a:rPr>
              <a:t>Orders get lost or written wrong.</a:t>
            </a:r>
          </a:p>
        </p:txBody>
      </p:sp>
      <p:sp>
        <p:nvSpPr>
          <p:cNvPr id="12" name="Item 11"/>
          <p:cNvSpPr/>
          <p:nvPr/>
        </p:nvSpPr>
        <p:spPr>
          <a:xfrm>
            <a:off x="8138160" y="2926080"/>
            <a:ext cx="3474720" cy="3017520"/>
          </a:xfrm>
          <a:prstGeom prst="roundRect">
            <a:avLst>
              <a:gd name="adj" fmla="val 12000"/>
            </a:avLst>
          </a:prstGeom>
          <a:solidFill>
            <a:srgbClr val="F1ED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Item 12"/>
          <p:cNvSpPr/>
          <p:nvPr/>
        </p:nvSpPr>
        <p:spPr>
          <a:xfrm>
            <a:off x="8458200" y="3246120"/>
            <a:ext cx="822960" cy="822960"/>
          </a:xfrm>
          <a:prstGeom prst="ellipse">
            <a:avLst/>
          </a:prstGeom>
          <a:solidFill>
            <a:srgbClr val="FFDBD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Oval 13"/>
          <p:cNvSpPr/>
          <p:nvPr/>
        </p:nvSpPr>
        <p:spPr>
          <a:xfrm>
            <a:off x="8686800" y="3474720"/>
            <a:ext cx="365760" cy="365760"/>
          </a:xfrm>
          <a:prstGeom prst="ellipse">
            <a:avLst/>
          </a:prstGeom>
          <a:solidFill>
            <a:srgbClr val="BA53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Item 14"/>
          <p:cNvSpPr txBox="1"/>
          <p:nvPr/>
        </p:nvSpPr>
        <p:spPr>
          <a:xfrm>
            <a:off x="8412480" y="4297680"/>
            <a:ext cx="2926080" cy="15544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200" b="1">
                <a:solidFill>
                  <a:srgbClr val="1C1C18"/>
                </a:solidFill>
                <a:latin typeface="Segoe UI"/>
              </a:rPr>
              <a:t>Owners don't see the numbers until the end of the month.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4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4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42" presetClass="entr" presetSubtype="0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8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1" dur="48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48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42" presetClass="entr" presetSubtype="0" fill="hold" grpId="0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48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6" dur="48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48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36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44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4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42" presetClass="entr" presetSubtype="0" fill="hold" grpId="0" nodeType="withEffect">
                                  <p:stCondLst>
                                    <p:cond delay="38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48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7" dur="48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48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36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54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44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42" presetClass="entr" presetSubtype="0" fill="hold" grpId="0" nodeType="withEffect">
                                  <p:stCondLst>
                                    <p:cond delay="48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48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8" dur="48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48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6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10" presetClass="entr" presetSubtype="0" fill="hold" grpId="0" nodeType="withEffect">
                                  <p:stCondLst>
                                    <p:cond delay="64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44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/>
      <p:bldP spid="4" grpId="0" animBg="1"/>
      <p:bldP spid="5" grpId="0" animBg="1"/>
      <p:bldP spid="7" grpId="0"/>
      <p:bldP spid="8" grpId="0" animBg="1"/>
      <p:bldP spid="9" grpId="0" animBg="1"/>
      <p:bldP spid="11" grpId="0"/>
      <p:bldP spid="12" grpId="0" animBg="1"/>
      <p:bldP spid="13" grpId="0" animBg="1"/>
      <p:bldP spid="15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DED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Item 1"/>
          <p:cNvSpPr txBox="1"/>
          <p:nvPr/>
        </p:nvSpPr>
        <p:spPr>
          <a:xfrm>
            <a:off x="731520" y="640080"/>
            <a:ext cx="1005840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500" b="1">
                <a:solidFill>
                  <a:srgbClr val="BA5333"/>
                </a:solidFill>
                <a:latin typeface="Segoe UI"/>
              </a:rPr>
              <a:t>HOW IT WORKS</a:t>
            </a:r>
          </a:p>
        </p:txBody>
      </p:sp>
      <p:sp>
        <p:nvSpPr>
          <p:cNvPr id="3" name="Item 2"/>
          <p:cNvSpPr txBox="1"/>
          <p:nvPr/>
        </p:nvSpPr>
        <p:spPr>
          <a:xfrm>
            <a:off x="731520" y="1097280"/>
            <a:ext cx="10515600" cy="16459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4400" b="1">
                <a:solidFill>
                  <a:srgbClr val="1C1C18"/>
                </a:solidFill>
                <a:latin typeface="Segoe UI Black"/>
              </a:rPr>
              <a:t>From table to till in four steps</a:t>
            </a:r>
          </a:p>
        </p:txBody>
      </p:sp>
      <p:sp>
        <p:nvSpPr>
          <p:cNvPr id="4" name="Item 3"/>
          <p:cNvSpPr/>
          <p:nvPr/>
        </p:nvSpPr>
        <p:spPr>
          <a:xfrm>
            <a:off x="1161288" y="3236976"/>
            <a:ext cx="8366760" cy="64008"/>
          </a:xfrm>
          <a:prstGeom prst="rect">
            <a:avLst/>
          </a:prstGeom>
          <a:solidFill>
            <a:srgbClr val="1B3A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Item 4"/>
          <p:cNvSpPr/>
          <p:nvPr/>
        </p:nvSpPr>
        <p:spPr>
          <a:xfrm>
            <a:off x="731520" y="2834640"/>
            <a:ext cx="868680" cy="868680"/>
          </a:xfrm>
          <a:prstGeom prst="ellipse">
            <a:avLst/>
          </a:prstGeom>
          <a:solidFill>
            <a:srgbClr val="1B3A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rIns="45720" rtlCol="0" anchor="ctr"/>
          <a:lstStyle/>
          <a:p>
            <a:pPr algn="ctr"/>
            <a:r>
              <a:rPr sz="2400" b="1">
                <a:solidFill>
                  <a:srgbClr val="FFFFFF"/>
                </a:solidFill>
                <a:latin typeface="Segoe UI"/>
              </a:rPr>
              <a:t>1</a:t>
            </a:r>
          </a:p>
        </p:txBody>
      </p:sp>
      <p:sp>
        <p:nvSpPr>
          <p:cNvPr id="6" name="Item 5"/>
          <p:cNvSpPr/>
          <p:nvPr/>
        </p:nvSpPr>
        <p:spPr>
          <a:xfrm>
            <a:off x="731520" y="3977639"/>
            <a:ext cx="2560320" cy="2011680"/>
          </a:xfrm>
          <a:prstGeom prst="roundRect">
            <a:avLst>
              <a:gd name="adj" fmla="val 12000"/>
            </a:avLst>
          </a:prstGeom>
          <a:solidFill>
            <a:srgbClr val="F1ED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Item 6"/>
          <p:cNvSpPr txBox="1"/>
          <p:nvPr/>
        </p:nvSpPr>
        <p:spPr>
          <a:xfrm>
            <a:off x="960120" y="4206240"/>
            <a:ext cx="2148840" cy="16459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900" b="1">
                <a:solidFill>
                  <a:srgbClr val="1C1C18"/>
                </a:solidFill>
                <a:latin typeface="Segoe UI"/>
              </a:rPr>
              <a:t>Scan the QR code on the table.</a:t>
            </a:r>
          </a:p>
        </p:txBody>
      </p:sp>
      <p:sp>
        <p:nvSpPr>
          <p:cNvPr id="8" name="Item 7"/>
          <p:cNvSpPr/>
          <p:nvPr/>
        </p:nvSpPr>
        <p:spPr>
          <a:xfrm>
            <a:off x="3520439" y="2834640"/>
            <a:ext cx="868680" cy="868680"/>
          </a:xfrm>
          <a:prstGeom prst="ellipse">
            <a:avLst/>
          </a:prstGeom>
          <a:solidFill>
            <a:srgbClr val="1B3A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rIns="45720" rtlCol="0" anchor="ctr"/>
          <a:lstStyle/>
          <a:p>
            <a:pPr algn="ctr"/>
            <a:r>
              <a:rPr sz="2400" b="1">
                <a:solidFill>
                  <a:srgbClr val="FFFFFF"/>
                </a:solidFill>
                <a:latin typeface="Segoe UI"/>
              </a:rPr>
              <a:t>2</a:t>
            </a:r>
          </a:p>
        </p:txBody>
      </p:sp>
      <p:sp>
        <p:nvSpPr>
          <p:cNvPr id="9" name="Item 8"/>
          <p:cNvSpPr/>
          <p:nvPr/>
        </p:nvSpPr>
        <p:spPr>
          <a:xfrm>
            <a:off x="3520439" y="3977639"/>
            <a:ext cx="2560320" cy="2011680"/>
          </a:xfrm>
          <a:prstGeom prst="roundRect">
            <a:avLst>
              <a:gd name="adj" fmla="val 12000"/>
            </a:avLst>
          </a:prstGeom>
          <a:solidFill>
            <a:srgbClr val="F1ED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Item 9"/>
          <p:cNvSpPr txBox="1"/>
          <p:nvPr/>
        </p:nvSpPr>
        <p:spPr>
          <a:xfrm>
            <a:off x="3749039" y="4206240"/>
            <a:ext cx="2148840" cy="16459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900" b="1">
                <a:solidFill>
                  <a:srgbClr val="1C1C18"/>
                </a:solidFill>
                <a:latin typeface="Segoe UI"/>
              </a:rPr>
              <a:t>Pick dishes and send.</a:t>
            </a:r>
          </a:p>
        </p:txBody>
      </p:sp>
      <p:sp>
        <p:nvSpPr>
          <p:cNvPr id="11" name="Item 10"/>
          <p:cNvSpPr/>
          <p:nvPr/>
        </p:nvSpPr>
        <p:spPr>
          <a:xfrm>
            <a:off x="6309359" y="2834640"/>
            <a:ext cx="868680" cy="868680"/>
          </a:xfrm>
          <a:prstGeom prst="ellipse">
            <a:avLst/>
          </a:prstGeom>
          <a:solidFill>
            <a:srgbClr val="1B3A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rIns="45720" rtlCol="0" anchor="ctr"/>
          <a:lstStyle/>
          <a:p>
            <a:pPr algn="ctr"/>
            <a:r>
              <a:rPr sz="2400" b="1">
                <a:solidFill>
                  <a:srgbClr val="FFFFFF"/>
                </a:solidFill>
                <a:latin typeface="Segoe UI"/>
              </a:rPr>
              <a:t>3</a:t>
            </a:r>
          </a:p>
        </p:txBody>
      </p:sp>
      <p:sp>
        <p:nvSpPr>
          <p:cNvPr id="12" name="Item 11"/>
          <p:cNvSpPr/>
          <p:nvPr/>
        </p:nvSpPr>
        <p:spPr>
          <a:xfrm>
            <a:off x="6309359" y="3977639"/>
            <a:ext cx="2560320" cy="2011680"/>
          </a:xfrm>
          <a:prstGeom prst="roundRect">
            <a:avLst>
              <a:gd name="adj" fmla="val 12000"/>
            </a:avLst>
          </a:prstGeom>
          <a:solidFill>
            <a:srgbClr val="F1ED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Item 12"/>
          <p:cNvSpPr txBox="1"/>
          <p:nvPr/>
        </p:nvSpPr>
        <p:spPr>
          <a:xfrm>
            <a:off x="6537959" y="4206240"/>
            <a:ext cx="2148840" cy="16459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900" b="1">
                <a:solidFill>
                  <a:srgbClr val="1C1C18"/>
                </a:solidFill>
                <a:latin typeface="Segoe UI"/>
              </a:rPr>
              <a:t>The till beeps and shows the order.</a:t>
            </a:r>
          </a:p>
        </p:txBody>
      </p:sp>
      <p:sp>
        <p:nvSpPr>
          <p:cNvPr id="14" name="Item 13"/>
          <p:cNvSpPr/>
          <p:nvPr/>
        </p:nvSpPr>
        <p:spPr>
          <a:xfrm>
            <a:off x="9098280" y="2834640"/>
            <a:ext cx="868680" cy="868680"/>
          </a:xfrm>
          <a:prstGeom prst="ellipse">
            <a:avLst/>
          </a:prstGeom>
          <a:solidFill>
            <a:srgbClr val="BA53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rIns="45720" rtlCol="0" anchor="ctr"/>
          <a:lstStyle/>
          <a:p>
            <a:pPr algn="ctr"/>
            <a:r>
              <a:rPr sz="2400" b="1">
                <a:solidFill>
                  <a:srgbClr val="FFFFFF"/>
                </a:solidFill>
                <a:latin typeface="Segoe UI"/>
              </a:rPr>
              <a:t>4</a:t>
            </a:r>
          </a:p>
        </p:txBody>
      </p:sp>
      <p:sp>
        <p:nvSpPr>
          <p:cNvPr id="15" name="Item 14"/>
          <p:cNvSpPr/>
          <p:nvPr/>
        </p:nvSpPr>
        <p:spPr>
          <a:xfrm>
            <a:off x="9098280" y="3977639"/>
            <a:ext cx="2560320" cy="2011680"/>
          </a:xfrm>
          <a:prstGeom prst="roundRect">
            <a:avLst>
              <a:gd name="adj" fmla="val 12000"/>
            </a:avLst>
          </a:prstGeom>
          <a:solidFill>
            <a:srgbClr val="F1ED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Item 15"/>
          <p:cNvSpPr txBox="1"/>
          <p:nvPr/>
        </p:nvSpPr>
        <p:spPr>
          <a:xfrm>
            <a:off x="9326880" y="4206240"/>
            <a:ext cx="2148840" cy="16459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900" b="1">
                <a:solidFill>
                  <a:srgbClr val="1C1C18"/>
                </a:solidFill>
                <a:latin typeface="Segoe UI"/>
              </a:rPr>
              <a:t>Pay and print the receipt.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4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4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42" presetClass="entr" presetSubtype="0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8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1" dur="48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48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2" presetClass="entr" presetSubtype="8" fill="hold" grpId="0" nodeType="withEffect">
                                  <p:stCondLst>
                                    <p:cond delay="24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96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36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36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42" presetClass="entr" presetSubtype="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44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44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44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48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44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6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42" presetClass="entr" presetSubtype="0" fill="hold" grpId="0" nodeType="withEffect">
                                  <p:stCondLst>
                                    <p:cond delay="54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4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3" dur="44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44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>
                                  <p:stCondLst>
                                    <p:cond delay="62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44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64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6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42" presetClass="entr" presetSubtype="0" fill="hold" grpId="0" nodeType="withEffect">
                                  <p:stCondLst>
                                    <p:cond delay="68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44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4" dur="44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44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6" presetID="10" presetClass="entr" presetSubtype="0" fill="hold" grpId="0" nodeType="withEffect">
                                  <p:stCondLst>
                                    <p:cond delay="76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44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10" presetClass="entr" presetSubtype="0" fill="hold" grpId="0" nodeType="withEffect">
                                  <p:stCondLst>
                                    <p:cond delay="78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36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42" presetClass="entr" presetSubtype="0" fill="hold" grpId="0" nodeType="withEffect">
                                  <p:stCondLst>
                                    <p:cond delay="82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44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5" dur="44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6" dur="44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10" presetClass="entr" presetSubtype="0" fill="hold" grpId="0" nodeType="withEffect">
                                  <p:stCondLst>
                                    <p:cond delay="90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44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/>
      <p:bldP spid="4" grpId="0" animBg="1"/>
      <p:bldP spid="5" grpId="0" animBg="1"/>
      <p:bldP spid="6" grpId="0" animBg="1"/>
      <p:bldP spid="7" grpId="0"/>
      <p:bldP spid="8" grpId="0" animBg="1"/>
      <p:bldP spid="9" grpId="0" animBg="1"/>
      <p:bldP spid="10" grpId="0"/>
      <p:bldP spid="11" grpId="0" animBg="1"/>
      <p:bldP spid="12" grpId="0" animBg="1"/>
      <p:bldP spid="13" grpId="0"/>
      <p:bldP spid="14" grpId="0" animBg="1"/>
      <p:bldP spid="15" grpId="0" animBg="1"/>
      <p:bldP spid="16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DF9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Item 1"/>
          <p:cNvSpPr txBox="1"/>
          <p:nvPr/>
        </p:nvSpPr>
        <p:spPr>
          <a:xfrm>
            <a:off x="731520" y="640080"/>
            <a:ext cx="1005840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500" b="1">
                <a:solidFill>
                  <a:srgbClr val="BA5333"/>
                </a:solidFill>
                <a:latin typeface="Segoe UI"/>
              </a:rPr>
              <a:t>ONE SYSTEM, THREE PEOPLE</a:t>
            </a:r>
          </a:p>
        </p:txBody>
      </p:sp>
      <p:sp>
        <p:nvSpPr>
          <p:cNvPr id="3" name="Item 2"/>
          <p:cNvSpPr/>
          <p:nvPr/>
        </p:nvSpPr>
        <p:spPr>
          <a:xfrm>
            <a:off x="731520" y="1280160"/>
            <a:ext cx="3474720" cy="4937760"/>
          </a:xfrm>
          <a:prstGeom prst="roundRect">
            <a:avLst>
              <a:gd name="adj" fmla="val 12000"/>
            </a:avLst>
          </a:prstGeom>
          <a:solidFill>
            <a:srgbClr val="F1ED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Item 3"/>
          <p:cNvSpPr/>
          <p:nvPr/>
        </p:nvSpPr>
        <p:spPr>
          <a:xfrm>
            <a:off x="731520" y="1280160"/>
            <a:ext cx="3474720" cy="914400"/>
          </a:xfrm>
          <a:prstGeom prst="roundRect">
            <a:avLst>
              <a:gd name="adj" fmla="val 12000"/>
            </a:avLst>
          </a:prstGeom>
          <a:solidFill>
            <a:srgbClr val="BA53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0" rIns="274320" rtlCol="0" anchor="ctr"/>
          <a:lstStyle/>
          <a:p>
            <a:pPr algn="l"/>
            <a:r>
              <a:rPr sz="2600" b="1">
                <a:solidFill>
                  <a:srgbClr val="FFFFFF"/>
                </a:solidFill>
                <a:latin typeface="Segoe UI Black"/>
              </a:rPr>
              <a:t>Guests</a:t>
            </a:r>
          </a:p>
        </p:txBody>
      </p:sp>
      <p:sp>
        <p:nvSpPr>
          <p:cNvPr id="5" name="Item 4"/>
          <p:cNvSpPr/>
          <p:nvPr/>
        </p:nvSpPr>
        <p:spPr>
          <a:xfrm>
            <a:off x="1005840" y="2642616"/>
            <a:ext cx="146304" cy="146304"/>
          </a:xfrm>
          <a:prstGeom prst="ellipse">
            <a:avLst/>
          </a:prstGeom>
          <a:solidFill>
            <a:srgbClr val="BA53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Item 5"/>
          <p:cNvSpPr txBox="1"/>
          <p:nvPr/>
        </p:nvSpPr>
        <p:spPr>
          <a:xfrm>
            <a:off x="1280160" y="2514600"/>
            <a:ext cx="2743200" cy="8229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700" b="0">
                <a:solidFill>
                  <a:srgbClr val="1C1C18"/>
                </a:solidFill>
                <a:latin typeface="Segoe UI"/>
              </a:rPr>
              <a:t>Read the menu, no account</a:t>
            </a:r>
          </a:p>
        </p:txBody>
      </p:sp>
      <p:sp>
        <p:nvSpPr>
          <p:cNvPr id="7" name="Item 6"/>
          <p:cNvSpPr/>
          <p:nvPr/>
        </p:nvSpPr>
        <p:spPr>
          <a:xfrm>
            <a:off x="1005840" y="3557016"/>
            <a:ext cx="146304" cy="146304"/>
          </a:xfrm>
          <a:prstGeom prst="ellipse">
            <a:avLst/>
          </a:prstGeom>
          <a:solidFill>
            <a:srgbClr val="BA53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Item 7"/>
          <p:cNvSpPr txBox="1"/>
          <p:nvPr/>
        </p:nvSpPr>
        <p:spPr>
          <a:xfrm>
            <a:off x="1280160" y="3429000"/>
            <a:ext cx="2743200" cy="8229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700" b="0">
                <a:solidFill>
                  <a:srgbClr val="1C1C18"/>
                </a:solidFill>
                <a:latin typeface="Segoe UI"/>
              </a:rPr>
              <a:t>Order, and add more later</a:t>
            </a:r>
          </a:p>
        </p:txBody>
      </p:sp>
      <p:sp>
        <p:nvSpPr>
          <p:cNvPr id="9" name="Item 8"/>
          <p:cNvSpPr/>
          <p:nvPr/>
        </p:nvSpPr>
        <p:spPr>
          <a:xfrm>
            <a:off x="1005840" y="4471416"/>
            <a:ext cx="146304" cy="146304"/>
          </a:xfrm>
          <a:prstGeom prst="ellipse">
            <a:avLst/>
          </a:prstGeom>
          <a:solidFill>
            <a:srgbClr val="BA53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Item 9"/>
          <p:cNvSpPr txBox="1"/>
          <p:nvPr/>
        </p:nvSpPr>
        <p:spPr>
          <a:xfrm>
            <a:off x="1280160" y="4343400"/>
            <a:ext cx="2743200" cy="8229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700" b="0">
                <a:solidFill>
                  <a:srgbClr val="1C1C18"/>
                </a:solidFill>
                <a:latin typeface="Segoe UI"/>
              </a:rPr>
              <a:t>Watch progress live</a:t>
            </a:r>
          </a:p>
        </p:txBody>
      </p:sp>
      <p:sp>
        <p:nvSpPr>
          <p:cNvPr id="11" name="Item 10"/>
          <p:cNvSpPr/>
          <p:nvPr/>
        </p:nvSpPr>
        <p:spPr>
          <a:xfrm>
            <a:off x="1005840" y="5385816"/>
            <a:ext cx="146304" cy="146304"/>
          </a:xfrm>
          <a:prstGeom prst="ellipse">
            <a:avLst/>
          </a:prstGeom>
          <a:solidFill>
            <a:srgbClr val="BA53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Item 11"/>
          <p:cNvSpPr txBox="1"/>
          <p:nvPr/>
        </p:nvSpPr>
        <p:spPr>
          <a:xfrm>
            <a:off x="1280160" y="5257800"/>
            <a:ext cx="2743200" cy="8229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700" b="0">
                <a:solidFill>
                  <a:srgbClr val="1C1C18"/>
                </a:solidFill>
                <a:latin typeface="Segoe UI"/>
              </a:rPr>
              <a:t>Call staff or ask for the bill</a:t>
            </a:r>
          </a:p>
        </p:txBody>
      </p:sp>
      <p:sp>
        <p:nvSpPr>
          <p:cNvPr id="13" name="Item 12"/>
          <p:cNvSpPr/>
          <p:nvPr/>
        </p:nvSpPr>
        <p:spPr>
          <a:xfrm>
            <a:off x="4434840" y="1280160"/>
            <a:ext cx="3474720" cy="4937760"/>
          </a:xfrm>
          <a:prstGeom prst="roundRect">
            <a:avLst>
              <a:gd name="adj" fmla="val 12000"/>
            </a:avLst>
          </a:prstGeom>
          <a:solidFill>
            <a:srgbClr val="F1ED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Item 13"/>
          <p:cNvSpPr/>
          <p:nvPr/>
        </p:nvSpPr>
        <p:spPr>
          <a:xfrm>
            <a:off x="4434840" y="1280160"/>
            <a:ext cx="3474720" cy="914400"/>
          </a:xfrm>
          <a:prstGeom prst="roundRect">
            <a:avLst>
              <a:gd name="adj" fmla="val 12000"/>
            </a:avLst>
          </a:prstGeom>
          <a:solidFill>
            <a:srgbClr val="1B3A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0" rIns="274320" rtlCol="0" anchor="ctr"/>
          <a:lstStyle/>
          <a:p>
            <a:pPr algn="l"/>
            <a:r>
              <a:rPr sz="2600" b="1">
                <a:solidFill>
                  <a:srgbClr val="FFFFFF"/>
                </a:solidFill>
                <a:latin typeface="Segoe UI Black"/>
              </a:rPr>
              <a:t>Cashiers</a:t>
            </a:r>
          </a:p>
        </p:txBody>
      </p:sp>
      <p:sp>
        <p:nvSpPr>
          <p:cNvPr id="15" name="Item 14"/>
          <p:cNvSpPr/>
          <p:nvPr/>
        </p:nvSpPr>
        <p:spPr>
          <a:xfrm>
            <a:off x="4709159" y="2642616"/>
            <a:ext cx="146304" cy="146304"/>
          </a:xfrm>
          <a:prstGeom prst="ellipse">
            <a:avLst/>
          </a:prstGeom>
          <a:solidFill>
            <a:srgbClr val="BA53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Item 15"/>
          <p:cNvSpPr txBox="1"/>
          <p:nvPr/>
        </p:nvSpPr>
        <p:spPr>
          <a:xfrm>
            <a:off x="4983479" y="2514600"/>
            <a:ext cx="2743200" cy="8229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700" b="0">
                <a:solidFill>
                  <a:srgbClr val="1C1C18"/>
                </a:solidFill>
                <a:latin typeface="Segoe UI"/>
              </a:rPr>
              <a:t>Alerts for orders and calls</a:t>
            </a:r>
          </a:p>
        </p:txBody>
      </p:sp>
      <p:sp>
        <p:nvSpPr>
          <p:cNvPr id="17" name="Item 16"/>
          <p:cNvSpPr/>
          <p:nvPr/>
        </p:nvSpPr>
        <p:spPr>
          <a:xfrm>
            <a:off x="4709159" y="3557016"/>
            <a:ext cx="146304" cy="146304"/>
          </a:xfrm>
          <a:prstGeom prst="ellipse">
            <a:avLst/>
          </a:prstGeom>
          <a:solidFill>
            <a:srgbClr val="BA53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Item 17"/>
          <p:cNvSpPr txBox="1"/>
          <p:nvPr/>
        </p:nvSpPr>
        <p:spPr>
          <a:xfrm>
            <a:off x="4983479" y="3429000"/>
            <a:ext cx="2743200" cy="8229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700" b="0">
                <a:solidFill>
                  <a:srgbClr val="1C1C18"/>
                </a:solidFill>
                <a:latin typeface="Segoe UI"/>
              </a:rPr>
              <a:t>Take payment, sell takeout</a:t>
            </a:r>
          </a:p>
        </p:txBody>
      </p:sp>
      <p:sp>
        <p:nvSpPr>
          <p:cNvPr id="19" name="Item 18"/>
          <p:cNvSpPr/>
          <p:nvPr/>
        </p:nvSpPr>
        <p:spPr>
          <a:xfrm>
            <a:off x="4709159" y="4471416"/>
            <a:ext cx="146304" cy="146304"/>
          </a:xfrm>
          <a:prstGeom prst="ellipse">
            <a:avLst/>
          </a:prstGeom>
          <a:solidFill>
            <a:srgbClr val="BA53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Item 19"/>
          <p:cNvSpPr txBox="1"/>
          <p:nvPr/>
        </p:nvSpPr>
        <p:spPr>
          <a:xfrm>
            <a:off x="4983479" y="4343400"/>
            <a:ext cx="2743200" cy="8229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700" b="0">
                <a:solidFill>
                  <a:srgbClr val="1C1C18"/>
                </a:solidFill>
                <a:latin typeface="Segoe UI"/>
              </a:rPr>
              <a:t>Turn dishes on or off</a:t>
            </a:r>
          </a:p>
        </p:txBody>
      </p:sp>
      <p:sp>
        <p:nvSpPr>
          <p:cNvPr id="21" name="Item 20"/>
          <p:cNvSpPr/>
          <p:nvPr/>
        </p:nvSpPr>
        <p:spPr>
          <a:xfrm>
            <a:off x="4709159" y="5385816"/>
            <a:ext cx="146304" cy="146304"/>
          </a:xfrm>
          <a:prstGeom prst="ellipse">
            <a:avLst/>
          </a:prstGeom>
          <a:solidFill>
            <a:srgbClr val="BA53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Item 21"/>
          <p:cNvSpPr txBox="1"/>
          <p:nvPr/>
        </p:nvSpPr>
        <p:spPr>
          <a:xfrm>
            <a:off x="4983479" y="5257800"/>
            <a:ext cx="2743200" cy="8229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700" b="0">
                <a:solidFill>
                  <a:srgbClr val="1C1C18"/>
                </a:solidFill>
                <a:latin typeface="Segoe UI"/>
              </a:rPr>
              <a:t>Record expenses, open and close shifts</a:t>
            </a:r>
          </a:p>
        </p:txBody>
      </p:sp>
      <p:sp>
        <p:nvSpPr>
          <p:cNvPr id="23" name="Item 22"/>
          <p:cNvSpPr/>
          <p:nvPr/>
        </p:nvSpPr>
        <p:spPr>
          <a:xfrm>
            <a:off x="8138160" y="1280160"/>
            <a:ext cx="3474720" cy="4937760"/>
          </a:xfrm>
          <a:prstGeom prst="roundRect">
            <a:avLst>
              <a:gd name="adj" fmla="val 12000"/>
            </a:avLst>
          </a:prstGeom>
          <a:solidFill>
            <a:srgbClr val="F1ED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Item 23"/>
          <p:cNvSpPr/>
          <p:nvPr/>
        </p:nvSpPr>
        <p:spPr>
          <a:xfrm>
            <a:off x="8138160" y="1280160"/>
            <a:ext cx="3474720" cy="914400"/>
          </a:xfrm>
          <a:prstGeom prst="roundRect">
            <a:avLst>
              <a:gd name="adj" fmla="val 12000"/>
            </a:avLst>
          </a:prstGeom>
          <a:solidFill>
            <a:srgbClr val="4F7A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0" rIns="274320" rtlCol="0" anchor="ctr"/>
          <a:lstStyle/>
          <a:p>
            <a:pPr algn="l"/>
            <a:r>
              <a:rPr sz="2600" b="1">
                <a:solidFill>
                  <a:srgbClr val="FFFFFF"/>
                </a:solidFill>
                <a:latin typeface="Segoe UI Black"/>
              </a:rPr>
              <a:t>Owners</a:t>
            </a:r>
          </a:p>
        </p:txBody>
      </p:sp>
      <p:sp>
        <p:nvSpPr>
          <p:cNvPr id="25" name="Item 24"/>
          <p:cNvSpPr/>
          <p:nvPr/>
        </p:nvSpPr>
        <p:spPr>
          <a:xfrm>
            <a:off x="8412480" y="2642616"/>
            <a:ext cx="146304" cy="146304"/>
          </a:xfrm>
          <a:prstGeom prst="ellipse">
            <a:avLst/>
          </a:prstGeom>
          <a:solidFill>
            <a:srgbClr val="BA53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Item 25"/>
          <p:cNvSpPr txBox="1"/>
          <p:nvPr/>
        </p:nvSpPr>
        <p:spPr>
          <a:xfrm>
            <a:off x="8686800" y="2514600"/>
            <a:ext cx="2743200" cy="8229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700" b="0">
                <a:solidFill>
                  <a:srgbClr val="1C1C18"/>
                </a:solidFill>
                <a:latin typeface="Segoe UI"/>
              </a:rPr>
              <a:t>Edit menu, prices, discounts</a:t>
            </a:r>
          </a:p>
        </p:txBody>
      </p:sp>
      <p:sp>
        <p:nvSpPr>
          <p:cNvPr id="27" name="Item 26"/>
          <p:cNvSpPr/>
          <p:nvPr/>
        </p:nvSpPr>
        <p:spPr>
          <a:xfrm>
            <a:off x="8412480" y="3557016"/>
            <a:ext cx="146304" cy="146304"/>
          </a:xfrm>
          <a:prstGeom prst="ellipse">
            <a:avLst/>
          </a:prstGeom>
          <a:solidFill>
            <a:srgbClr val="BA53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Item 27"/>
          <p:cNvSpPr txBox="1"/>
          <p:nvPr/>
        </p:nvSpPr>
        <p:spPr>
          <a:xfrm>
            <a:off x="8686800" y="3429000"/>
            <a:ext cx="2743200" cy="8229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700" b="0">
                <a:solidFill>
                  <a:srgbClr val="1C1C18"/>
                </a:solidFill>
                <a:latin typeface="Segoe UI"/>
              </a:rPr>
              <a:t>Add tables, print QR codes</a:t>
            </a:r>
          </a:p>
        </p:txBody>
      </p:sp>
      <p:sp>
        <p:nvSpPr>
          <p:cNvPr id="29" name="Item 28"/>
          <p:cNvSpPr/>
          <p:nvPr/>
        </p:nvSpPr>
        <p:spPr>
          <a:xfrm>
            <a:off x="8412480" y="4471416"/>
            <a:ext cx="146304" cy="146304"/>
          </a:xfrm>
          <a:prstGeom prst="ellipse">
            <a:avLst/>
          </a:prstGeom>
          <a:solidFill>
            <a:srgbClr val="BA53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Item 29"/>
          <p:cNvSpPr txBox="1"/>
          <p:nvPr/>
        </p:nvSpPr>
        <p:spPr>
          <a:xfrm>
            <a:off x="8686800" y="4343400"/>
            <a:ext cx="2743200" cy="8229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700" b="0">
                <a:solidFill>
                  <a:srgbClr val="1C1C18"/>
                </a:solidFill>
                <a:latin typeface="Segoe UI"/>
              </a:rPr>
              <a:t>See sales and expenses</a:t>
            </a:r>
          </a:p>
        </p:txBody>
      </p:sp>
      <p:sp>
        <p:nvSpPr>
          <p:cNvPr id="31" name="Item 30"/>
          <p:cNvSpPr/>
          <p:nvPr/>
        </p:nvSpPr>
        <p:spPr>
          <a:xfrm>
            <a:off x="8412480" y="5385816"/>
            <a:ext cx="146304" cy="146304"/>
          </a:xfrm>
          <a:prstGeom prst="ellipse">
            <a:avLst/>
          </a:prstGeom>
          <a:solidFill>
            <a:srgbClr val="BA53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Item 31"/>
          <p:cNvSpPr txBox="1"/>
          <p:nvPr/>
        </p:nvSpPr>
        <p:spPr>
          <a:xfrm>
            <a:off x="8686800" y="5257800"/>
            <a:ext cx="2743200" cy="8229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700" b="0">
                <a:solidFill>
                  <a:srgbClr val="1C1C18"/>
                </a:solidFill>
                <a:latin typeface="Segoe UI"/>
              </a:rPr>
              <a:t>Export CSV or PDF reports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4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4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42" presetClass="entr" presetSubtype="0" fill="hold" grpId="0" nodeType="withEffect">
                                  <p:stCondLst>
                                    <p:cond delay="12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8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1" dur="48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48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42" presetClass="entr" presetSubtype="0" fill="hold" grpId="0" nodeType="withEffect">
                                  <p:stCondLst>
                                    <p:cond delay="16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48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6" dur="48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48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36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3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38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6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43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45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6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52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6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58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3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10" presetClass="entr" presetSubtype="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36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42" presetClass="entr" presetSubtype="0" fill="hold" grpId="0" nodeType="withEffect">
                                  <p:stCondLst>
                                    <p:cond delay="26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48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5" dur="48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" dur="48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7" presetID="42" presetClass="entr" presetSubtype="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48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0" dur="48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48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2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" presetID="10" presetClass="entr" presetSubtype="0" fill="hold" grpId="0" nodeType="withEffect">
                                  <p:stCondLst>
                                    <p:cond delay="52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6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8" presetID="10" presetClass="entr" presetSubtype="0" fill="hold" grpId="0" nodeType="withEffect">
                                  <p:stCondLst>
                                    <p:cond delay="57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1" presetID="10" presetClass="entr" presetSubtype="0" fill="hold" grpId="0" nodeType="withEffect">
                                  <p:stCondLst>
                                    <p:cond delay="59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36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4" presetID="10" presetClass="entr" presetSubtype="0" fill="hold" grpId="0" nodeType="withEffect">
                                  <p:stCondLst>
                                    <p:cond delay="64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6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7" presetID="10" presetClass="entr" presetSubtype="0" fill="hold" grpId="0" nodeType="withEffect">
                                  <p:stCondLst>
                                    <p:cond delay="66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9" dur="36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0" presetID="10" presetClass="entr" presetSubtype="0" fill="hold" grpId="0" nodeType="withEffect">
                                  <p:stCondLst>
                                    <p:cond delay="72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3" presetID="10" presetClass="entr" presetSubtype="0" fill="hold" grpId="0" nodeType="withEffect">
                                  <p:stCondLst>
                                    <p:cond delay="74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5" dur="36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6" presetID="42" presetClass="entr" presetSubtype="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8" dur="48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9" dur="48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0" dur="48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1" presetID="42" presetClass="entr" presetSubtype="0" fill="hold" grpId="0" nodeType="withEffect">
                                  <p:stCondLst>
                                    <p:cond delay="44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3" dur="48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4" dur="48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5" dur="48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6" presetID="10" presetClass="entr" presetSubtype="0" fill="hold" grpId="0" nodeType="withEffect">
                                  <p:stCondLst>
                                    <p:cond delay="64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8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9" presetID="10" presetClass="entr" presetSubtype="0" fill="hold" grpId="0" nodeType="withEffect">
                                  <p:stCondLst>
                                    <p:cond delay="66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1" dur="36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2" presetID="10" presetClass="entr" presetSubtype="0" fill="hold" grpId="0" nodeType="withEffect">
                                  <p:stCondLst>
                                    <p:cond delay="71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4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5" presetID="10" presetClass="entr" presetSubtype="0" fill="hold" grpId="0" nodeType="withEffect">
                                  <p:stCondLst>
                                    <p:cond delay="73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7" dur="36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8" presetID="10" presetClass="entr" presetSubtype="0" fill="hold" grpId="0" nodeType="withEffect">
                                  <p:stCondLst>
                                    <p:cond delay="78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0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1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3" dur="36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4" presetID="10" presetClass="entr" presetSubtype="0" fill="hold" grpId="0" nodeType="withEffect">
                                  <p:stCondLst>
                                    <p:cond delay="86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6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7" presetID="10" presetClass="entr" presetSubtype="0" fill="hold" grpId="0" nodeType="withEffect">
                                  <p:stCondLst>
                                    <p:cond delay="88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9" dur="36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animBg="1"/>
      <p:bldP spid="4" grpId="0" animBg="1"/>
      <p:bldP spid="5" grpId="0" animBg="1"/>
      <p:bldP spid="6" grpId="0"/>
      <p:bldP spid="7" grpId="0" animBg="1"/>
      <p:bldP spid="8" grpId="0"/>
      <p:bldP spid="9" grpId="0" animBg="1"/>
      <p:bldP spid="10" grpId="0"/>
      <p:bldP spid="11" grpId="0" animBg="1"/>
      <p:bldP spid="12" grpId="0"/>
      <p:bldP spid="13" grpId="0" animBg="1"/>
      <p:bldP spid="14" grpId="0" animBg="1"/>
      <p:bldP spid="15" grpId="0" animBg="1"/>
      <p:bldP spid="16" grpId="0"/>
      <p:bldP spid="17" grpId="0" animBg="1"/>
      <p:bldP spid="18" grpId="0"/>
      <p:bldP spid="19" grpId="0" animBg="1"/>
      <p:bldP spid="20" grpId="0"/>
      <p:bldP spid="21" grpId="0" animBg="1"/>
      <p:bldP spid="22" grpId="0"/>
      <p:bldP spid="23" grpId="0" animBg="1"/>
      <p:bldP spid="24" grpId="0" animBg="1"/>
      <p:bldP spid="25" grpId="0" animBg="1"/>
      <p:bldP spid="26" grpId="0"/>
      <p:bldP spid="27" grpId="0" animBg="1"/>
      <p:bldP spid="28" grpId="0"/>
      <p:bldP spid="29" grpId="0" animBg="1"/>
      <p:bldP spid="30" grpId="0"/>
      <p:bldP spid="31" grpId="0" animBg="1"/>
      <p:bldP spid="32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B3A4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/>
          <p:cNvSpPr/>
          <p:nvPr/>
        </p:nvSpPr>
        <p:spPr>
          <a:xfrm>
            <a:off x="8229600" y="-1463040"/>
            <a:ext cx="5669280" cy="5669280"/>
          </a:xfrm>
          <a:prstGeom prst="ellipse">
            <a:avLst/>
          </a:prstGeom>
          <a:solidFill>
            <a:srgbClr val="2449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Item 2"/>
          <p:cNvSpPr txBox="1"/>
          <p:nvPr/>
        </p:nvSpPr>
        <p:spPr>
          <a:xfrm>
            <a:off x="731520" y="640080"/>
            <a:ext cx="1005840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500" b="1">
                <a:solidFill>
                  <a:srgbClr val="FFDBD1"/>
                </a:solidFill>
                <a:latin typeface="Segoe UI"/>
              </a:rPr>
              <a:t>WINDOWS TILL</a:t>
            </a:r>
          </a:p>
        </p:txBody>
      </p:sp>
      <p:sp>
        <p:nvSpPr>
          <p:cNvPr id="4" name="Item 3"/>
          <p:cNvSpPr txBox="1"/>
          <p:nvPr/>
        </p:nvSpPr>
        <p:spPr>
          <a:xfrm>
            <a:off x="731520" y="1097280"/>
            <a:ext cx="6309360" cy="16459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4400" b="1">
                <a:solidFill>
                  <a:srgbClr val="FDF9F2"/>
                </a:solidFill>
                <a:latin typeface="Segoe UI Black"/>
              </a:rPr>
              <a:t>Keeps selling when the internet drops</a:t>
            </a:r>
          </a:p>
        </p:txBody>
      </p:sp>
      <p:sp>
        <p:nvSpPr>
          <p:cNvPr id="5" name="Item 4"/>
          <p:cNvSpPr/>
          <p:nvPr/>
        </p:nvSpPr>
        <p:spPr>
          <a:xfrm>
            <a:off x="731520" y="3803904"/>
            <a:ext cx="182880" cy="182880"/>
          </a:xfrm>
          <a:prstGeom prst="ellipse">
            <a:avLst/>
          </a:prstGeom>
          <a:solidFill>
            <a:srgbClr val="BA53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Item 5"/>
          <p:cNvSpPr txBox="1"/>
          <p:nvPr/>
        </p:nvSpPr>
        <p:spPr>
          <a:xfrm>
            <a:off x="1143000" y="3657600"/>
            <a:ext cx="5120640" cy="9144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200" b="0">
                <a:solidFill>
                  <a:srgbClr val="FDF9F2"/>
                </a:solidFill>
                <a:latin typeface="Segoe UI"/>
              </a:rPr>
              <a:t>Keeps selling, whatever the connection.</a:t>
            </a:r>
          </a:p>
        </p:txBody>
      </p:sp>
      <p:sp>
        <p:nvSpPr>
          <p:cNvPr id="7" name="Item 6"/>
          <p:cNvSpPr/>
          <p:nvPr/>
        </p:nvSpPr>
        <p:spPr>
          <a:xfrm>
            <a:off x="731520" y="4809744"/>
            <a:ext cx="182880" cy="182880"/>
          </a:xfrm>
          <a:prstGeom prst="ellipse">
            <a:avLst/>
          </a:prstGeom>
          <a:solidFill>
            <a:srgbClr val="BA53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Item 7"/>
          <p:cNvSpPr txBox="1"/>
          <p:nvPr/>
        </p:nvSpPr>
        <p:spPr>
          <a:xfrm>
            <a:off x="1143000" y="4663440"/>
            <a:ext cx="5120640" cy="9144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200" b="0">
                <a:solidFill>
                  <a:srgbClr val="FDF9F2"/>
                </a:solidFill>
                <a:latin typeface="Segoe UI"/>
              </a:rPr>
              <a:t>Screens update live within seconds.</a:t>
            </a:r>
          </a:p>
        </p:txBody>
      </p:sp>
      <p:sp>
        <p:nvSpPr>
          <p:cNvPr id="9" name="Item 8"/>
          <p:cNvSpPr/>
          <p:nvPr/>
        </p:nvSpPr>
        <p:spPr>
          <a:xfrm>
            <a:off x="7315200" y="1371600"/>
            <a:ext cx="4114800" cy="1097280"/>
          </a:xfrm>
          <a:prstGeom prst="roundRect">
            <a:avLst>
              <a:gd name="adj" fmla="val 12000"/>
            </a:avLst>
          </a:prstGeom>
          <a:solidFill>
            <a:srgbClr val="2D56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rIns="228600" rtlCol="0" anchor="ctr"/>
          <a:lstStyle/>
          <a:p>
            <a:pPr algn="ctr"/>
            <a:r>
              <a:rPr sz="1800" b="1">
                <a:solidFill>
                  <a:srgbClr val="FDF9F2"/>
                </a:solidFill>
                <a:latin typeface="Segoe UI"/>
              </a:rPr>
              <a:t>Sale saved on this PC</a:t>
            </a:r>
          </a:p>
        </p:txBody>
      </p:sp>
      <p:sp>
        <p:nvSpPr>
          <p:cNvPr id="10" name="Item 9"/>
          <p:cNvSpPr/>
          <p:nvPr/>
        </p:nvSpPr>
        <p:spPr>
          <a:xfrm>
            <a:off x="9144000" y="2514600"/>
            <a:ext cx="457200" cy="365760"/>
          </a:xfrm>
          <a:prstGeom prst="downArrow">
            <a:avLst/>
          </a:prstGeom>
          <a:solidFill>
            <a:srgbClr val="BA53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Item 10"/>
          <p:cNvSpPr/>
          <p:nvPr/>
        </p:nvSpPr>
        <p:spPr>
          <a:xfrm>
            <a:off x="7315200" y="3017520"/>
            <a:ext cx="4114800" cy="1097280"/>
          </a:xfrm>
          <a:prstGeom prst="roundRect">
            <a:avLst>
              <a:gd name="adj" fmla="val 12000"/>
            </a:avLst>
          </a:prstGeom>
          <a:solidFill>
            <a:srgbClr val="FFDBD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rIns="228600" rtlCol="0" anchor="ctr"/>
          <a:lstStyle/>
          <a:p>
            <a:pPr algn="ctr"/>
            <a:r>
              <a:rPr sz="1800" b="1">
                <a:solidFill>
                  <a:srgbClr val="1C1C18"/>
                </a:solidFill>
                <a:latin typeface="Segoe UI"/>
              </a:rPr>
              <a:t>Internet is back, cashier enters PIN</a:t>
            </a:r>
          </a:p>
        </p:txBody>
      </p:sp>
      <p:sp>
        <p:nvSpPr>
          <p:cNvPr id="12" name="Item 11"/>
          <p:cNvSpPr/>
          <p:nvPr/>
        </p:nvSpPr>
        <p:spPr>
          <a:xfrm>
            <a:off x="9144000" y="4160520"/>
            <a:ext cx="457200" cy="365760"/>
          </a:xfrm>
          <a:prstGeom prst="downArrow">
            <a:avLst/>
          </a:prstGeom>
          <a:solidFill>
            <a:srgbClr val="BA53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Item 12"/>
          <p:cNvSpPr/>
          <p:nvPr/>
        </p:nvSpPr>
        <p:spPr>
          <a:xfrm>
            <a:off x="7315200" y="4663440"/>
            <a:ext cx="4114800" cy="1097280"/>
          </a:xfrm>
          <a:prstGeom prst="roundRect">
            <a:avLst>
              <a:gd name="adj" fmla="val 12000"/>
            </a:avLst>
          </a:prstGeom>
          <a:solidFill>
            <a:srgbClr val="4F7A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rIns="228600" rtlCol="0" anchor="ctr"/>
          <a:lstStyle/>
          <a:p>
            <a:pPr algn="ctr"/>
            <a:r>
              <a:rPr sz="1800" b="1">
                <a:solidFill>
                  <a:srgbClr val="FFFFFF"/>
                </a:solidFill>
                <a:latin typeface="Segoe UI"/>
              </a:rPr>
              <a:t>Sales uploaded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4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4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42" presetClass="entr" presetSubtype="0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8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1" dur="48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48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32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3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34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44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44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3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46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44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42" presetClass="entr" presetSubtype="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44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8" dur="44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44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0" presetID="22" presetClass="entr" presetSubtype="1" fill="hold" grpId="0" nodeType="withEffect">
                                  <p:stCondLst>
                                    <p:cond delay="58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2" dur="3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42" presetClass="entr" presetSubtype="0" fill="hold" grpId="0" nodeType="withEffect">
                                  <p:stCondLst>
                                    <p:cond delay="68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44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44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44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8" presetID="22" presetClass="entr" presetSubtype="1" fill="hold" grpId="0" nodeType="withEffect">
                                  <p:stCondLst>
                                    <p:cond delay="86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0" dur="3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42" presetClass="entr" presetSubtype="0" fill="hold" grpId="0" nodeType="withEffect">
                                  <p:stCondLst>
                                    <p:cond delay="96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44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4" dur="44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44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4" grpId="0"/>
      <p:bldP spid="5" grpId="0" animBg="1"/>
      <p:bldP spid="6" grpId="0"/>
      <p:bldP spid="7" grpId="0" animBg="1"/>
      <p:bldP spid="8" grpId="0"/>
      <p:bldP spid="9" grpId="0" animBg="1"/>
      <p:bldP spid="10" grpId="0" animBg="1"/>
      <p:bldP spid="11" grpId="0" animBg="1"/>
      <p:bldP spid="12" grpId="0" animBg="1"/>
      <p:bldP spid="13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DED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/>
          <p:cNvSpPr/>
          <p:nvPr/>
        </p:nvSpPr>
        <p:spPr>
          <a:xfrm>
            <a:off x="8778240" y="-2011680"/>
            <a:ext cx="5120640" cy="5120640"/>
          </a:xfrm>
          <a:prstGeom prst="ellipse">
            <a:avLst/>
          </a:prstGeom>
          <a:solidFill>
            <a:srgbClr val="FFDBD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Item 2"/>
          <p:cNvSpPr txBox="1"/>
          <p:nvPr/>
        </p:nvSpPr>
        <p:spPr>
          <a:xfrm>
            <a:off x="731520" y="640080"/>
            <a:ext cx="1005840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500" b="1">
                <a:solidFill>
                  <a:srgbClr val="BA5333"/>
                </a:solidFill>
                <a:latin typeface="Segoe UI"/>
              </a:rPr>
              <a:t>TWO LANGUAGES</a:t>
            </a:r>
          </a:p>
        </p:txBody>
      </p:sp>
      <p:sp>
        <p:nvSpPr>
          <p:cNvPr id="4" name="Item 3"/>
          <p:cNvSpPr txBox="1"/>
          <p:nvPr/>
        </p:nvSpPr>
        <p:spPr>
          <a:xfrm>
            <a:off x="731520" y="1097280"/>
            <a:ext cx="10515600" cy="16459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4400" b="1">
                <a:solidFill>
                  <a:srgbClr val="1C1C18"/>
                </a:solidFill>
                <a:latin typeface="Segoe UI Black"/>
              </a:rPr>
              <a:t>Arabic and English, done properly</a:t>
            </a:r>
          </a:p>
        </p:txBody>
      </p:sp>
      <p:sp>
        <p:nvSpPr>
          <p:cNvPr id="5" name="Item 4"/>
          <p:cNvSpPr/>
          <p:nvPr/>
        </p:nvSpPr>
        <p:spPr>
          <a:xfrm>
            <a:off x="731520" y="3145536"/>
            <a:ext cx="182880" cy="182880"/>
          </a:xfrm>
          <a:prstGeom prst="ellipse">
            <a:avLst/>
          </a:prstGeom>
          <a:solidFill>
            <a:srgbClr val="BA53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Item 5"/>
          <p:cNvSpPr txBox="1"/>
          <p:nvPr/>
        </p:nvSpPr>
        <p:spPr>
          <a:xfrm>
            <a:off x="1143000" y="3017520"/>
            <a:ext cx="5029200" cy="9144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000" b="0">
                <a:solidFill>
                  <a:srgbClr val="1C1C18"/>
                </a:solidFill>
                <a:latin typeface="Segoe UI"/>
              </a:rPr>
              <a:t>Arabic reads right to left, everywhere.</a:t>
            </a:r>
          </a:p>
        </p:txBody>
      </p:sp>
      <p:sp>
        <p:nvSpPr>
          <p:cNvPr id="7" name="Item 6"/>
          <p:cNvSpPr/>
          <p:nvPr/>
        </p:nvSpPr>
        <p:spPr>
          <a:xfrm>
            <a:off x="731520" y="4151376"/>
            <a:ext cx="182880" cy="182880"/>
          </a:xfrm>
          <a:prstGeom prst="ellipse">
            <a:avLst/>
          </a:prstGeom>
          <a:solidFill>
            <a:srgbClr val="BA53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Item 7"/>
          <p:cNvSpPr txBox="1"/>
          <p:nvPr/>
        </p:nvSpPr>
        <p:spPr>
          <a:xfrm>
            <a:off x="1143000" y="4023360"/>
            <a:ext cx="5029200" cy="9144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000" b="0">
                <a:solidFill>
                  <a:srgbClr val="1C1C18"/>
                </a:solidFill>
                <a:latin typeface="Segoe UI"/>
              </a:rPr>
              <a:t>Receipts print in both languages.</a:t>
            </a:r>
          </a:p>
        </p:txBody>
      </p:sp>
      <p:sp>
        <p:nvSpPr>
          <p:cNvPr id="9" name="Item 8"/>
          <p:cNvSpPr/>
          <p:nvPr/>
        </p:nvSpPr>
        <p:spPr>
          <a:xfrm>
            <a:off x="731520" y="5157216"/>
            <a:ext cx="182880" cy="182880"/>
          </a:xfrm>
          <a:prstGeom prst="ellipse">
            <a:avLst/>
          </a:prstGeom>
          <a:solidFill>
            <a:srgbClr val="BA53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Item 9"/>
          <p:cNvSpPr txBox="1"/>
          <p:nvPr/>
        </p:nvSpPr>
        <p:spPr>
          <a:xfrm>
            <a:off x="1143000" y="5029200"/>
            <a:ext cx="5029200" cy="9144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000" b="0">
                <a:solidFill>
                  <a:srgbClr val="1C1C18"/>
                </a:solidFill>
                <a:latin typeface="Segoe UI"/>
              </a:rPr>
              <a:t>Your logo and colours on the guest menu.</a:t>
            </a:r>
          </a:p>
        </p:txBody>
      </p:sp>
      <p:sp>
        <p:nvSpPr>
          <p:cNvPr id="11" name="Item 10"/>
          <p:cNvSpPr/>
          <p:nvPr/>
        </p:nvSpPr>
        <p:spPr>
          <a:xfrm>
            <a:off x="6675120" y="2377440"/>
            <a:ext cx="2468880" cy="3840480"/>
          </a:xfrm>
          <a:prstGeom prst="roundRect">
            <a:avLst>
              <a:gd name="adj" fmla="val 10000"/>
            </a:avLst>
          </a:prstGeom>
          <a:solidFill>
            <a:srgbClr val="FDF9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Item 11"/>
          <p:cNvSpPr/>
          <p:nvPr/>
        </p:nvSpPr>
        <p:spPr>
          <a:xfrm>
            <a:off x="6858000" y="2651760"/>
            <a:ext cx="2103120" cy="1005840"/>
          </a:xfrm>
          <a:prstGeom prst="roundRect">
            <a:avLst>
              <a:gd name="adj" fmla="val 15000"/>
            </a:avLst>
          </a:prstGeom>
          <a:solidFill>
            <a:srgbClr val="F1ED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Item 12"/>
          <p:cNvSpPr txBox="1"/>
          <p:nvPr/>
        </p:nvSpPr>
        <p:spPr>
          <a:xfrm>
            <a:off x="6995159" y="2834640"/>
            <a:ext cx="1828800" cy="4572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700" b="1">
                <a:solidFill>
                  <a:srgbClr val="1C1C18"/>
                </a:solidFill>
                <a:latin typeface="Segoe UI"/>
              </a:rPr>
              <a:t>Cappuccino</a:t>
            </a:r>
          </a:p>
        </p:txBody>
      </p:sp>
      <p:sp>
        <p:nvSpPr>
          <p:cNvPr id="14" name="Item 13"/>
          <p:cNvSpPr/>
          <p:nvPr/>
        </p:nvSpPr>
        <p:spPr>
          <a:xfrm>
            <a:off x="7040880" y="3337560"/>
            <a:ext cx="822960" cy="109728"/>
          </a:xfrm>
          <a:prstGeom prst="roundRect">
            <a:avLst>
              <a:gd name="adj" fmla="val 50000"/>
            </a:avLst>
          </a:prstGeom>
          <a:solidFill>
            <a:srgbClr val="D9D2C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Item 14"/>
          <p:cNvSpPr/>
          <p:nvPr/>
        </p:nvSpPr>
        <p:spPr>
          <a:xfrm>
            <a:off x="6858000" y="3886200"/>
            <a:ext cx="2103120" cy="1005840"/>
          </a:xfrm>
          <a:prstGeom prst="roundRect">
            <a:avLst>
              <a:gd name="adj" fmla="val 15000"/>
            </a:avLst>
          </a:prstGeom>
          <a:solidFill>
            <a:srgbClr val="F1ED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Item 15"/>
          <p:cNvSpPr txBox="1"/>
          <p:nvPr/>
        </p:nvSpPr>
        <p:spPr>
          <a:xfrm>
            <a:off x="6995159" y="4069080"/>
            <a:ext cx="1828800" cy="4572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700" b="1">
                <a:solidFill>
                  <a:srgbClr val="1C1C18"/>
                </a:solidFill>
                <a:latin typeface="Segoe UI"/>
              </a:rPr>
              <a:t>Croissant</a:t>
            </a:r>
          </a:p>
        </p:txBody>
      </p:sp>
      <p:sp>
        <p:nvSpPr>
          <p:cNvPr id="17" name="Item 16"/>
          <p:cNvSpPr/>
          <p:nvPr/>
        </p:nvSpPr>
        <p:spPr>
          <a:xfrm>
            <a:off x="7040880" y="4572000"/>
            <a:ext cx="822960" cy="109728"/>
          </a:xfrm>
          <a:prstGeom prst="roundRect">
            <a:avLst>
              <a:gd name="adj" fmla="val 50000"/>
            </a:avLst>
          </a:prstGeom>
          <a:solidFill>
            <a:srgbClr val="D9D2C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Item 17"/>
          <p:cNvSpPr/>
          <p:nvPr/>
        </p:nvSpPr>
        <p:spPr>
          <a:xfrm>
            <a:off x="6858000" y="5303520"/>
            <a:ext cx="2103120" cy="640080"/>
          </a:xfrm>
          <a:prstGeom prst="roundRect">
            <a:avLst>
              <a:gd name="adj" fmla="val 50000"/>
            </a:avLst>
          </a:prstGeom>
          <a:solidFill>
            <a:srgbClr val="BA53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rIns="45720" rtlCol="0" anchor="ctr"/>
          <a:lstStyle/>
          <a:p>
            <a:pPr algn="ctr"/>
            <a:r>
              <a:rPr sz="1600" b="1">
                <a:solidFill>
                  <a:srgbClr val="FFFFFF"/>
                </a:solidFill>
                <a:latin typeface="Segoe UI"/>
              </a:rPr>
              <a:t>Order</a:t>
            </a:r>
          </a:p>
        </p:txBody>
      </p:sp>
      <p:sp>
        <p:nvSpPr>
          <p:cNvPr id="19" name="Item 18"/>
          <p:cNvSpPr/>
          <p:nvPr/>
        </p:nvSpPr>
        <p:spPr>
          <a:xfrm>
            <a:off x="9326880" y="2377440"/>
            <a:ext cx="2468880" cy="3840480"/>
          </a:xfrm>
          <a:prstGeom prst="roundRect">
            <a:avLst>
              <a:gd name="adj" fmla="val 10000"/>
            </a:avLst>
          </a:prstGeom>
          <a:solidFill>
            <a:srgbClr val="FDF9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Item 19"/>
          <p:cNvSpPr/>
          <p:nvPr/>
        </p:nvSpPr>
        <p:spPr>
          <a:xfrm>
            <a:off x="9509759" y="2651760"/>
            <a:ext cx="2103120" cy="1005840"/>
          </a:xfrm>
          <a:prstGeom prst="roundRect">
            <a:avLst>
              <a:gd name="adj" fmla="val 15000"/>
            </a:avLst>
          </a:prstGeom>
          <a:solidFill>
            <a:srgbClr val="F1ED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Item 20"/>
          <p:cNvSpPr txBox="1"/>
          <p:nvPr/>
        </p:nvSpPr>
        <p:spPr>
          <a:xfrm>
            <a:off x="9646919" y="2834640"/>
            <a:ext cx="1828800" cy="4572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 rtl="1"/>
            <a:r>
              <a:rPr sz="1700" b="1">
                <a:solidFill>
                  <a:srgbClr val="1C1C18"/>
                </a:solidFill>
                <a:latin typeface="Segoe UI"/>
              </a:rPr>
              <a:t>كابتشينو</a:t>
            </a:r>
          </a:p>
        </p:txBody>
      </p:sp>
      <p:sp>
        <p:nvSpPr>
          <p:cNvPr id="22" name="Item 21"/>
          <p:cNvSpPr/>
          <p:nvPr/>
        </p:nvSpPr>
        <p:spPr>
          <a:xfrm>
            <a:off x="10607040" y="3337560"/>
            <a:ext cx="822960" cy="109728"/>
          </a:xfrm>
          <a:prstGeom prst="roundRect">
            <a:avLst>
              <a:gd name="adj" fmla="val 50000"/>
            </a:avLst>
          </a:prstGeom>
          <a:solidFill>
            <a:srgbClr val="D9D2C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Item 22"/>
          <p:cNvSpPr/>
          <p:nvPr/>
        </p:nvSpPr>
        <p:spPr>
          <a:xfrm>
            <a:off x="9509759" y="3886200"/>
            <a:ext cx="2103120" cy="1005840"/>
          </a:xfrm>
          <a:prstGeom prst="roundRect">
            <a:avLst>
              <a:gd name="adj" fmla="val 15000"/>
            </a:avLst>
          </a:prstGeom>
          <a:solidFill>
            <a:srgbClr val="F1ED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Item 23"/>
          <p:cNvSpPr txBox="1"/>
          <p:nvPr/>
        </p:nvSpPr>
        <p:spPr>
          <a:xfrm>
            <a:off x="9646919" y="4069080"/>
            <a:ext cx="1828800" cy="4572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 rtl="1"/>
            <a:r>
              <a:rPr sz="1700" b="1">
                <a:solidFill>
                  <a:srgbClr val="1C1C18"/>
                </a:solidFill>
                <a:latin typeface="Segoe UI"/>
              </a:rPr>
              <a:t>كرواسون</a:t>
            </a:r>
          </a:p>
        </p:txBody>
      </p:sp>
      <p:sp>
        <p:nvSpPr>
          <p:cNvPr id="25" name="Item 24"/>
          <p:cNvSpPr/>
          <p:nvPr/>
        </p:nvSpPr>
        <p:spPr>
          <a:xfrm>
            <a:off x="10607040" y="4572000"/>
            <a:ext cx="822960" cy="109728"/>
          </a:xfrm>
          <a:prstGeom prst="roundRect">
            <a:avLst>
              <a:gd name="adj" fmla="val 50000"/>
            </a:avLst>
          </a:prstGeom>
          <a:solidFill>
            <a:srgbClr val="D9D2C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Item 25"/>
          <p:cNvSpPr/>
          <p:nvPr/>
        </p:nvSpPr>
        <p:spPr>
          <a:xfrm>
            <a:off x="9509759" y="5303520"/>
            <a:ext cx="2103120" cy="640080"/>
          </a:xfrm>
          <a:prstGeom prst="roundRect">
            <a:avLst>
              <a:gd name="adj" fmla="val 50000"/>
            </a:avLst>
          </a:prstGeom>
          <a:solidFill>
            <a:srgbClr val="BA53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rIns="45720" rtlCol="0" anchor="ctr"/>
          <a:lstStyle/>
          <a:p>
            <a:pPr algn="ctr" rtl="1"/>
            <a:r>
              <a:rPr sz="1600" b="1">
                <a:solidFill>
                  <a:srgbClr val="FFFFFF"/>
                </a:solidFill>
                <a:latin typeface="Segoe UI"/>
              </a:rPr>
              <a:t>اطلب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4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4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42" presetClass="entr" presetSubtype="0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8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1" dur="48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48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32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3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34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44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42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3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44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44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grpId="0" nodeType="withEffect">
                                  <p:stCondLst>
                                    <p:cond delay="52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54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44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42" presetClass="entr" presetSubtype="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48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4" dur="48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48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44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10" presetClass="entr" presetSubtype="0" fill="hold" grpId="0" nodeType="withEffect">
                                  <p:stCondLst>
                                    <p:cond delay="58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44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10" presetClass="entr" presetSubtype="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44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10" presetClass="entr" presetSubtype="0" fill="hold" grpId="0" nodeType="withEffect">
                                  <p:stCondLst>
                                    <p:cond delay="62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44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grpId="0" nodeType="withEffect">
                                  <p:stCondLst>
                                    <p:cond delay="64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44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grpId="0" nodeType="withEffect">
                                  <p:stCondLst>
                                    <p:cond delay="66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44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grpId="0" nodeType="withEffect">
                                  <p:stCondLst>
                                    <p:cond delay="72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" presetID="42" presetClass="entr" presetSubtype="0" fill="hold" grpId="0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48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0" dur="48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1" dur="48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2" presetID="10" presetClass="entr" presetSubtype="0" fill="hold" grpId="0" nodeType="withEffect">
                                  <p:stCondLst>
                                    <p:cond delay="72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44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10" presetClass="entr" presetSubtype="0" fill="hold" grpId="0" nodeType="withEffect">
                                  <p:stCondLst>
                                    <p:cond delay="74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44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" presetID="10" presetClass="entr" presetSubtype="0" fill="hold" grpId="0" nodeType="withEffect">
                                  <p:stCondLst>
                                    <p:cond delay="76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44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" presetID="10" presetClass="entr" presetSubtype="0" fill="hold" grpId="0" nodeType="withEffect">
                                  <p:stCondLst>
                                    <p:cond delay="78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3" dur="44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4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6" dur="44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7" presetID="10" presetClass="entr" presetSubtype="0" fill="hold" grpId="0" nodeType="withEffect">
                                  <p:stCondLst>
                                    <p:cond delay="82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9" dur="44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0" presetID="10" presetClass="entr" presetSubtype="0" fill="hold" grpId="0" nodeType="withEffect">
                                  <p:stCondLst>
                                    <p:cond delay="88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4" grpId="0"/>
      <p:bldP spid="5" grpId="0" animBg="1"/>
      <p:bldP spid="6" grpId="0"/>
      <p:bldP spid="7" grpId="0" animBg="1"/>
      <p:bldP spid="8" grpId="0"/>
      <p:bldP spid="9" grpId="0" animBg="1"/>
      <p:bldP spid="10" grpId="0"/>
      <p:bldP spid="11" grpId="0" animBg="1"/>
      <p:bldP spid="12" grpId="0" animBg="1"/>
      <p:bldP spid="13" grpId="0"/>
      <p:bldP spid="14" grpId="0" animBg="1"/>
      <p:bldP spid="15" grpId="0" animBg="1"/>
      <p:bldP spid="16" grpId="0"/>
      <p:bldP spid="17" grpId="0" animBg="1"/>
      <p:bldP spid="18" grpId="0" animBg="1"/>
      <p:bldP spid="19" grpId="0" animBg="1"/>
      <p:bldP spid="20" grpId="0" animBg="1"/>
      <p:bldP spid="21" grpId="0"/>
      <p:bldP spid="22" grpId="0" animBg="1"/>
      <p:bldP spid="23" grpId="0" animBg="1"/>
      <p:bldP spid="24" grpId="0"/>
      <p:bldP spid="25" grpId="0" animBg="1"/>
      <p:bldP spid="26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B3A4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/>
          <p:cNvSpPr/>
          <p:nvPr/>
        </p:nvSpPr>
        <p:spPr>
          <a:xfrm>
            <a:off x="7680960" y="365760"/>
            <a:ext cx="5852160" cy="5852160"/>
          </a:xfrm>
          <a:prstGeom prst="ellipse">
            <a:avLst/>
          </a:prstGeom>
          <a:solidFill>
            <a:srgbClr val="2449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9052560" y="1737360"/>
            <a:ext cx="3108960" cy="3108960"/>
          </a:xfrm>
          <a:prstGeom prst="ellipse">
            <a:avLst/>
          </a:prstGeom>
          <a:solidFill>
            <a:srgbClr val="2D56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Item 3" descr="tawla-app-ic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240000">
            <a:off x="8595360" y="1828800"/>
            <a:ext cx="2926080" cy="2926080"/>
          </a:xfrm>
          <a:prstGeom prst="rect">
            <a:avLst/>
          </a:prstGeom>
        </p:spPr>
      </p:pic>
      <p:sp>
        <p:nvSpPr>
          <p:cNvPr id="5" name="Item 4"/>
          <p:cNvSpPr txBox="1"/>
          <p:nvPr/>
        </p:nvSpPr>
        <p:spPr>
          <a:xfrm>
            <a:off x="731520" y="731520"/>
            <a:ext cx="822960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500" b="1">
                <a:solidFill>
                  <a:srgbClr val="FFDBD1"/>
                </a:solidFill>
                <a:latin typeface="Segoe UI"/>
              </a:rPr>
              <a:t>NEXT STEP</a:t>
            </a:r>
          </a:p>
        </p:txBody>
      </p:sp>
      <p:sp>
        <p:nvSpPr>
          <p:cNvPr id="6" name="Item 5"/>
          <p:cNvSpPr txBox="1"/>
          <p:nvPr/>
        </p:nvSpPr>
        <p:spPr>
          <a:xfrm>
            <a:off x="731520" y="1463040"/>
            <a:ext cx="7315200" cy="16459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8800" b="1">
                <a:solidFill>
                  <a:srgbClr val="FDF9F2"/>
                </a:solidFill>
                <a:latin typeface="Segoe UI Black"/>
              </a:rPr>
              <a:t>See it live.</a:t>
            </a:r>
          </a:p>
        </p:txBody>
      </p:sp>
      <p:sp>
        <p:nvSpPr>
          <p:cNvPr id="7" name="Item 6"/>
          <p:cNvSpPr txBox="1"/>
          <p:nvPr/>
        </p:nvSpPr>
        <p:spPr>
          <a:xfrm>
            <a:off x="731520" y="3383280"/>
            <a:ext cx="7315200" cy="8229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100" b="0">
                <a:solidFill>
                  <a:srgbClr val="FDF9F2"/>
                </a:solidFill>
                <a:latin typeface="Segoe UI"/>
              </a:rPr>
              <a:t>Open a real café menu on your phone and send an order.</a:t>
            </a:r>
          </a:p>
        </p:txBody>
      </p:sp>
      <p:sp>
        <p:nvSpPr>
          <p:cNvPr id="8" name="Item 7"/>
          <p:cNvSpPr/>
          <p:nvPr/>
        </p:nvSpPr>
        <p:spPr>
          <a:xfrm>
            <a:off x="731520" y="4526280"/>
            <a:ext cx="3474720" cy="868680"/>
          </a:xfrm>
          <a:prstGeom prst="roundRect">
            <a:avLst>
              <a:gd name="adj" fmla="val 50000"/>
            </a:avLst>
          </a:prstGeom>
          <a:solidFill>
            <a:srgbClr val="BA53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rIns="45720" rtlCol="0" anchor="ctr"/>
          <a:lstStyle/>
          <a:p>
            <a:pPr algn="ctr"/>
            <a:r>
              <a:rPr sz="2200" b="1">
                <a:solidFill>
                  <a:srgbClr val="FFFFFF"/>
                </a:solidFill>
                <a:latin typeface="Segoe UI"/>
              </a:rPr>
              <a:t>Try a live menu</a:t>
            </a:r>
          </a:p>
        </p:txBody>
      </p:sp>
      <p:sp>
        <p:nvSpPr>
          <p:cNvPr id="9" name="Item 8"/>
          <p:cNvSpPr txBox="1"/>
          <p:nvPr/>
        </p:nvSpPr>
        <p:spPr>
          <a:xfrm>
            <a:off x="731520" y="5760720"/>
            <a:ext cx="7315200" cy="4572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800" b="0">
                <a:solidFill>
                  <a:srgbClr val="FDF9F2"/>
                </a:solidFill>
                <a:latin typeface="Segoe UI"/>
              </a:rPr>
              <a:t>tawla.ly   ·   WhatsApp: [ your number ]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16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64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4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4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42" presetClass="entr" presetSubtype="0" fill="hold" grpId="0" nodeType="withEffect">
                                  <p:stCondLst>
                                    <p:cond delay="12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6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" dur="56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6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32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44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44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4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6" presetClass="emph" presetSubtype="0" repeatCount="2000" fill="hold" grpId="1" nodeType="withEffect">
                                  <p:stCondLst>
                                    <p:cond delay="1140"/>
                                  </p:stCondLst>
                                  <p:childTnLst>
                                    <p:animScale>
                                      <p:cBhvr>
                                        <p:cTn id="23" dur="700" fill="hold"/>
                                        <p:tgtEl>
                                          <p:spTgt spid="8"/>
                                        </p:tgtEl>
                                      </p:cBhvr>
                                      <p:by x="150000" y="150000"/>
                                    </p:animScale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44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6" grpId="0"/>
      <p:bldP spid="7" grpId="0"/>
      <p:bldP spid="8" grpId="0" animBg="1"/>
      <p:bldP spid="8" grpId="1" animBg="1"/>
      <p:bldP spid="9" grpId="0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301</Words>
  <Application>Microsoft Office PowerPoint</Application>
  <PresentationFormat>شاشة عريضة</PresentationFormat>
  <Paragraphs>68</Paragraphs>
  <Slides>7</Slides>
  <Notes>0</Notes>
  <HiddenSlides>0</HiddenSlides>
  <MMClips>0</MMClips>
  <ScaleCrop>false</ScaleCrop>
  <HeadingPairs>
    <vt:vector size="6" baseType="variant">
      <vt:variant>
        <vt:lpstr>الخطوط المستخدمة</vt:lpstr>
      </vt:variant>
      <vt:variant>
        <vt:i4>4</vt:i4>
      </vt:variant>
      <vt:variant>
        <vt:lpstr>نسق</vt:lpstr>
      </vt:variant>
      <vt:variant>
        <vt:i4>1</vt:i4>
      </vt:variant>
      <vt:variant>
        <vt:lpstr>عناوين الشرائح</vt:lpstr>
      </vt:variant>
      <vt:variant>
        <vt:i4>7</vt:i4>
      </vt:variant>
    </vt:vector>
  </HeadingPairs>
  <TitlesOfParts>
    <vt:vector size="12" baseType="lpstr">
      <vt:lpstr>Arial</vt:lpstr>
      <vt:lpstr>Calibri</vt:lpstr>
      <vt:lpstr>Segoe UI</vt:lpstr>
      <vt:lpstr>Segoe UI Black</vt:lpstr>
      <vt:lpstr>Office Theme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reyad alshaafi</cp:lastModifiedBy>
  <cp:revision>2</cp:revision>
  <dcterms:created xsi:type="dcterms:W3CDTF">2013-01-27T09:14:16Z</dcterms:created>
  <dcterms:modified xsi:type="dcterms:W3CDTF">2026-10-20T18:55:18Z</dcterms:modified>
  <cp:category/>
</cp:coreProperties>
</file>