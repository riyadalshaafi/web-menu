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463040"/>
            <a:ext cx="5669280" cy="5669280"/>
          </a:xfrm>
          <a:prstGeom prst="ellipse">
            <a:avLst/>
          </a:prstGeom>
          <a:solidFill>
            <a:srgbClr val="244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4937760"/>
            <a:ext cx="2926080" cy="2926080"/>
          </a:xfrm>
          <a:prstGeom prst="ellipse">
            <a:avLst/>
          </a:prstGeom>
          <a:solidFill>
            <a:srgbClr val="244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Item 3" descr="tawla-ap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640080"/>
            <a:ext cx="548640" cy="548640"/>
          </a:xfrm>
          <a:prstGeom prst="rect">
            <a:avLst/>
          </a:prstGeom>
        </p:spPr>
      </p:pic>
      <p:sp>
        <p:nvSpPr>
          <p:cNvPr id="5" name="Item 4"/>
          <p:cNvSpPr txBox="1"/>
          <p:nvPr/>
        </p:nvSpPr>
        <p:spPr>
          <a:xfrm>
            <a:off x="7116775" y="658368"/>
            <a:ext cx="365760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/>
            <a:r>
              <a:rPr sz="2400" b="1">
                <a:solidFill>
                  <a:srgbClr val="FDF9F2"/>
                </a:solidFill>
                <a:latin typeface="Segoe UI"/>
              </a:rPr>
              <a:t>طاولة</a:t>
            </a:r>
          </a:p>
        </p:txBody>
      </p:sp>
      <p:sp>
        <p:nvSpPr>
          <p:cNvPr id="6" name="Item 5"/>
          <p:cNvSpPr txBox="1"/>
          <p:nvPr/>
        </p:nvSpPr>
        <p:spPr>
          <a:xfrm>
            <a:off x="5516575" y="1600200"/>
            <a:ext cx="5943600" cy="2926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5000" b="1">
                <a:solidFill>
                  <a:srgbClr val="FDF9F2"/>
                </a:solidFill>
                <a:latin typeface="Segoe UI"/>
              </a:rPr>
              <a:t>اضغط. اطلب. </a:t>
            </a:r>
            <a:r>
              <a:rPr sz="5000" b="1">
                <a:solidFill>
                  <a:srgbClr val="FFDBD1"/>
                </a:solidFill>
                <a:latin typeface="Segoe UI"/>
              </a:rPr>
              <a:t>وطلبك عند الكاشير.</a:t>
            </a:r>
          </a:p>
        </p:txBody>
      </p:sp>
      <p:sp>
        <p:nvSpPr>
          <p:cNvPr id="7" name="Item 6"/>
          <p:cNvSpPr txBox="1"/>
          <p:nvPr/>
        </p:nvSpPr>
        <p:spPr>
          <a:xfrm>
            <a:off x="5973775" y="4572000"/>
            <a:ext cx="548640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900" b="0">
                <a:solidFill>
                  <a:srgbClr val="FDF9F2"/>
                </a:solidFill>
                <a:latin typeface="Segoe UI"/>
              </a:rPr>
              <a:t>نظام الكافيه بالطلب عبر QR وكاشير ولوحة تحكم للمالك، بالعربية والإنجليزية.</a:t>
            </a:r>
          </a:p>
        </p:txBody>
      </p:sp>
      <p:sp>
        <p:nvSpPr>
          <p:cNvPr id="8" name="Item 7"/>
          <p:cNvSpPr/>
          <p:nvPr/>
        </p:nvSpPr>
        <p:spPr>
          <a:xfrm>
            <a:off x="2819095" y="868680"/>
            <a:ext cx="2514600" cy="5120640"/>
          </a:xfrm>
          <a:prstGeom prst="roundRect">
            <a:avLst>
              <a:gd name="adj" fmla="val 14000"/>
            </a:avLst>
          </a:prstGeom>
          <a:solidFill>
            <a:srgbClr val="FDF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tem 8"/>
          <p:cNvSpPr txBox="1"/>
          <p:nvPr/>
        </p:nvSpPr>
        <p:spPr>
          <a:xfrm>
            <a:off x="3047695" y="1051560"/>
            <a:ext cx="2011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400" b="1">
                <a:solidFill>
                  <a:srgbClr val="1C1C18"/>
                </a:solidFill>
                <a:latin typeface="Segoe UI"/>
              </a:rPr>
              <a:t>القائمة</a:t>
            </a:r>
          </a:p>
        </p:txBody>
      </p:sp>
      <p:sp>
        <p:nvSpPr>
          <p:cNvPr id="10" name="Item 9"/>
          <p:cNvSpPr/>
          <p:nvPr/>
        </p:nvSpPr>
        <p:spPr>
          <a:xfrm>
            <a:off x="3020263" y="1645919"/>
            <a:ext cx="2112264" cy="777240"/>
          </a:xfrm>
          <a:prstGeom prst="roundRect">
            <a:avLst>
              <a:gd name="adj" fmla="val 18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tem 10"/>
          <p:cNvSpPr/>
          <p:nvPr/>
        </p:nvSpPr>
        <p:spPr>
          <a:xfrm>
            <a:off x="3852367" y="1847088"/>
            <a:ext cx="1097280" cy="137160"/>
          </a:xfrm>
          <a:prstGeom prst="roundRect">
            <a:avLst>
              <a:gd name="adj" fmla="val 50000"/>
            </a:avLst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tem 11"/>
          <p:cNvSpPr/>
          <p:nvPr/>
        </p:nvSpPr>
        <p:spPr>
          <a:xfrm>
            <a:off x="4218127" y="2084831"/>
            <a:ext cx="731520" cy="109728"/>
          </a:xfrm>
          <a:prstGeom prst="roundRect">
            <a:avLst>
              <a:gd name="adj" fmla="val 50000"/>
            </a:avLst>
          </a:prstGeom>
          <a:solidFill>
            <a:srgbClr val="E8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tem 12"/>
          <p:cNvSpPr/>
          <p:nvPr/>
        </p:nvSpPr>
        <p:spPr>
          <a:xfrm>
            <a:off x="3139135" y="1828799"/>
            <a:ext cx="411480" cy="4114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rtl="1"/>
            <a:r>
              <a:rPr sz="16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14" name="Item 13"/>
          <p:cNvSpPr/>
          <p:nvPr/>
        </p:nvSpPr>
        <p:spPr>
          <a:xfrm>
            <a:off x="3020263" y="2606039"/>
            <a:ext cx="2112264" cy="777240"/>
          </a:xfrm>
          <a:prstGeom prst="roundRect">
            <a:avLst>
              <a:gd name="adj" fmla="val 18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tem 14"/>
          <p:cNvSpPr/>
          <p:nvPr/>
        </p:nvSpPr>
        <p:spPr>
          <a:xfrm>
            <a:off x="3943807" y="2807208"/>
            <a:ext cx="1005839" cy="137160"/>
          </a:xfrm>
          <a:prstGeom prst="roundRect">
            <a:avLst>
              <a:gd name="adj" fmla="val 50000"/>
            </a:avLst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tem 15"/>
          <p:cNvSpPr/>
          <p:nvPr/>
        </p:nvSpPr>
        <p:spPr>
          <a:xfrm>
            <a:off x="4218127" y="3044951"/>
            <a:ext cx="731520" cy="109728"/>
          </a:xfrm>
          <a:prstGeom prst="roundRect">
            <a:avLst>
              <a:gd name="adj" fmla="val 50000"/>
            </a:avLst>
          </a:prstGeom>
          <a:solidFill>
            <a:srgbClr val="E8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Item 16"/>
          <p:cNvSpPr/>
          <p:nvPr/>
        </p:nvSpPr>
        <p:spPr>
          <a:xfrm>
            <a:off x="3139135" y="2788920"/>
            <a:ext cx="411480" cy="4114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rtl="1"/>
            <a:r>
              <a:rPr sz="16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18" name="Item 17"/>
          <p:cNvSpPr/>
          <p:nvPr/>
        </p:nvSpPr>
        <p:spPr>
          <a:xfrm>
            <a:off x="3020263" y="3566160"/>
            <a:ext cx="2112264" cy="777240"/>
          </a:xfrm>
          <a:prstGeom prst="roundRect">
            <a:avLst>
              <a:gd name="adj" fmla="val 18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tem 18"/>
          <p:cNvSpPr/>
          <p:nvPr/>
        </p:nvSpPr>
        <p:spPr>
          <a:xfrm>
            <a:off x="4035247" y="3767328"/>
            <a:ext cx="914400" cy="137160"/>
          </a:xfrm>
          <a:prstGeom prst="roundRect">
            <a:avLst>
              <a:gd name="adj" fmla="val 50000"/>
            </a:avLst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tem 19"/>
          <p:cNvSpPr/>
          <p:nvPr/>
        </p:nvSpPr>
        <p:spPr>
          <a:xfrm>
            <a:off x="4218127" y="4005072"/>
            <a:ext cx="731520" cy="109728"/>
          </a:xfrm>
          <a:prstGeom prst="roundRect">
            <a:avLst>
              <a:gd name="adj" fmla="val 50000"/>
            </a:avLst>
          </a:prstGeom>
          <a:solidFill>
            <a:srgbClr val="E8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tem 20"/>
          <p:cNvSpPr/>
          <p:nvPr/>
        </p:nvSpPr>
        <p:spPr>
          <a:xfrm>
            <a:off x="3139135" y="3749039"/>
            <a:ext cx="411480" cy="4114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rtl="1"/>
            <a:r>
              <a:rPr sz="1600" b="1">
                <a:solidFill>
                  <a:srgbClr val="FFFFFF"/>
                </a:solidFill>
                <a:latin typeface="Segoe UI"/>
              </a:rPr>
              <a:t>+</a:t>
            </a:r>
          </a:p>
        </p:txBody>
      </p:sp>
      <p:sp>
        <p:nvSpPr>
          <p:cNvPr id="22" name="Item 21"/>
          <p:cNvSpPr/>
          <p:nvPr/>
        </p:nvSpPr>
        <p:spPr>
          <a:xfrm>
            <a:off x="3020263" y="5257800"/>
            <a:ext cx="2112264" cy="548640"/>
          </a:xfrm>
          <a:prstGeom prst="roundRect">
            <a:avLst>
              <a:gd name="adj" fmla="val 50000"/>
            </a:avLst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Segoe UI"/>
              </a:rPr>
              <a:t>إرسال الطلب</a:t>
            </a:r>
          </a:p>
        </p:txBody>
      </p:sp>
      <p:sp>
        <p:nvSpPr>
          <p:cNvPr id="23" name="Item 22"/>
          <p:cNvSpPr/>
          <p:nvPr/>
        </p:nvSpPr>
        <p:spPr>
          <a:xfrm>
            <a:off x="304495" y="155448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FDF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tem 23"/>
          <p:cNvSpPr txBox="1"/>
          <p:nvPr/>
        </p:nvSpPr>
        <p:spPr>
          <a:xfrm>
            <a:off x="1081735" y="1627632"/>
            <a:ext cx="128016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/>
            <a:r>
              <a:rPr sz="1500" b="1">
                <a:solidFill>
                  <a:srgbClr val="1C1C18"/>
                </a:solidFill>
                <a:latin typeface="Segoe UI"/>
              </a:rPr>
              <a:t>طاولة 3</a:t>
            </a:r>
          </a:p>
        </p:txBody>
      </p:sp>
      <p:sp>
        <p:nvSpPr>
          <p:cNvPr id="25" name="Item 24"/>
          <p:cNvSpPr/>
          <p:nvPr/>
        </p:nvSpPr>
        <p:spPr>
          <a:xfrm>
            <a:off x="1145743" y="226771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4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rtl="1"/>
            <a:r>
              <a:rPr sz="1000" b="1">
                <a:solidFill>
                  <a:srgbClr val="FFFFFF"/>
                </a:solidFill>
                <a:latin typeface="Segoe UI"/>
              </a:rPr>
              <a:t>فارغة</a:t>
            </a:r>
          </a:p>
        </p:txBody>
      </p:sp>
      <p:sp>
        <p:nvSpPr>
          <p:cNvPr id="26" name="Item 25"/>
          <p:cNvSpPr/>
          <p:nvPr/>
        </p:nvSpPr>
        <p:spPr>
          <a:xfrm>
            <a:off x="304495" y="292608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FF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Item 26"/>
          <p:cNvSpPr txBox="1"/>
          <p:nvPr/>
        </p:nvSpPr>
        <p:spPr>
          <a:xfrm>
            <a:off x="1081735" y="2999232"/>
            <a:ext cx="128016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/>
            <a:r>
              <a:rPr sz="1500" b="1">
                <a:solidFill>
                  <a:srgbClr val="1C1C18"/>
                </a:solidFill>
                <a:latin typeface="Segoe UI"/>
              </a:rPr>
              <a:t>طاولة 4</a:t>
            </a:r>
          </a:p>
        </p:txBody>
      </p:sp>
      <p:sp>
        <p:nvSpPr>
          <p:cNvPr id="28" name="Item 27"/>
          <p:cNvSpPr/>
          <p:nvPr/>
        </p:nvSpPr>
        <p:spPr>
          <a:xfrm>
            <a:off x="1145743" y="363931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rtl="1"/>
            <a:r>
              <a:rPr sz="1000" b="1">
                <a:solidFill>
                  <a:srgbClr val="FFFFFF"/>
                </a:solidFill>
                <a:latin typeface="Segoe UI"/>
              </a:rPr>
              <a:t>جديد</a:t>
            </a:r>
          </a:p>
        </p:txBody>
      </p:sp>
      <p:sp>
        <p:nvSpPr>
          <p:cNvPr id="29" name="Item 28"/>
          <p:cNvSpPr/>
          <p:nvPr/>
        </p:nvSpPr>
        <p:spPr>
          <a:xfrm>
            <a:off x="304495" y="4297680"/>
            <a:ext cx="2194560" cy="1051560"/>
          </a:xfrm>
          <a:prstGeom prst="roundRect">
            <a:avLst>
              <a:gd name="adj" fmla="val 12000"/>
            </a:avLst>
          </a:prstGeom>
          <a:solidFill>
            <a:srgbClr val="FDF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Item 29"/>
          <p:cNvSpPr txBox="1"/>
          <p:nvPr/>
        </p:nvSpPr>
        <p:spPr>
          <a:xfrm>
            <a:off x="1081735" y="4370832"/>
            <a:ext cx="128016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 rtl="1"/>
            <a:r>
              <a:rPr sz="1500" b="1">
                <a:solidFill>
                  <a:srgbClr val="1C1C18"/>
                </a:solidFill>
                <a:latin typeface="Segoe UI"/>
              </a:rPr>
              <a:t>طاولة 5</a:t>
            </a:r>
          </a:p>
        </p:txBody>
      </p:sp>
      <p:sp>
        <p:nvSpPr>
          <p:cNvPr id="31" name="Item 30"/>
          <p:cNvSpPr/>
          <p:nvPr/>
        </p:nvSpPr>
        <p:spPr>
          <a:xfrm>
            <a:off x="1145743" y="501091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rtl="1"/>
            <a:r>
              <a:rPr sz="1000" b="1">
                <a:solidFill>
                  <a:srgbClr val="FFFFFF"/>
                </a:solidFill>
                <a:latin typeface="Segoe UI"/>
              </a:rPr>
              <a:t>قيد التقديم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4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4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4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4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4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4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4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4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4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4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4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44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44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4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44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44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6" presetClass="emph" presetSubtype="0" repeatCount="2000" fill="hold" grpId="1" nodeType="withEffect">
                                  <p:stCondLst>
                                    <p:cond delay="1660"/>
                                  </p:stCondLst>
                                  <p:childTnLst>
                                    <p:animScale>
                                      <p:cBhvr>
                                        <p:cTn id="97" dur="700" fill="hold"/>
                                        <p:tgtEl>
                                          <p:spTgt spid="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4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44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44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4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44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44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4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44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44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 animBg="1"/>
      <p:bldP spid="26" grpId="0" animBg="1"/>
      <p:bldP spid="27" grpId="0"/>
      <p:bldP spid="28" grpId="0" animBg="1"/>
      <p:bldP spid="28" grpId="1" animBg="1"/>
      <p:bldP spid="29" grpId="0" animBg="1"/>
      <p:bldP spid="30" grpId="0"/>
      <p:bldP spid="3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tem 1"/>
          <p:cNvSpPr txBox="1"/>
          <p:nvPr/>
        </p:nvSpPr>
        <p:spPr>
          <a:xfrm>
            <a:off x="1401775" y="64008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500" b="1">
                <a:solidFill>
                  <a:srgbClr val="BA5333"/>
                </a:solidFill>
                <a:latin typeface="Segoe UI"/>
              </a:rPr>
              <a:t>المشكلة</a:t>
            </a:r>
          </a:p>
        </p:txBody>
      </p:sp>
      <p:sp>
        <p:nvSpPr>
          <p:cNvPr id="3" name="Item 2"/>
          <p:cNvSpPr txBox="1"/>
          <p:nvPr/>
        </p:nvSpPr>
        <p:spPr>
          <a:xfrm>
            <a:off x="944575" y="1097280"/>
            <a:ext cx="105156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4400" b="1">
                <a:solidFill>
                  <a:srgbClr val="1C1C18"/>
                </a:solidFill>
                <a:latin typeface="Segoe UI"/>
              </a:rPr>
              <a:t>بطء الخدمة يكلّفك زبائن</a:t>
            </a:r>
          </a:p>
        </p:txBody>
      </p:sp>
      <p:sp>
        <p:nvSpPr>
          <p:cNvPr id="4" name="Item 3"/>
          <p:cNvSpPr/>
          <p:nvPr/>
        </p:nvSpPr>
        <p:spPr>
          <a:xfrm>
            <a:off x="7985455" y="2926080"/>
            <a:ext cx="3474720" cy="301752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tem 4"/>
          <p:cNvSpPr/>
          <p:nvPr/>
        </p:nvSpPr>
        <p:spPr>
          <a:xfrm>
            <a:off x="10317175" y="3246120"/>
            <a:ext cx="822960" cy="822960"/>
          </a:xfrm>
          <a:prstGeom prst="ellipse">
            <a:avLst/>
          </a:prstGeom>
          <a:solidFill>
            <a:srgbClr val="FF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45775" y="3474720"/>
            <a:ext cx="365760" cy="36576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tem 6"/>
          <p:cNvSpPr txBox="1"/>
          <p:nvPr/>
        </p:nvSpPr>
        <p:spPr>
          <a:xfrm>
            <a:off x="8259775" y="4297680"/>
            <a:ext cx="292608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2200" b="1">
                <a:solidFill>
                  <a:srgbClr val="1C1C18"/>
                </a:solidFill>
                <a:latin typeface="Segoe UI"/>
              </a:rPr>
              <a:t>الزبون ينتظر النادل ليطلب.</a:t>
            </a:r>
          </a:p>
        </p:txBody>
      </p:sp>
      <p:sp>
        <p:nvSpPr>
          <p:cNvPr id="8" name="Item 7"/>
          <p:cNvSpPr/>
          <p:nvPr/>
        </p:nvSpPr>
        <p:spPr>
          <a:xfrm>
            <a:off x="4282135" y="2926080"/>
            <a:ext cx="3474720" cy="301752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tem 8"/>
          <p:cNvSpPr/>
          <p:nvPr/>
        </p:nvSpPr>
        <p:spPr>
          <a:xfrm>
            <a:off x="6613855" y="3246120"/>
            <a:ext cx="822960" cy="822960"/>
          </a:xfrm>
          <a:prstGeom prst="ellipse">
            <a:avLst/>
          </a:prstGeom>
          <a:solidFill>
            <a:srgbClr val="FF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42455" y="3474720"/>
            <a:ext cx="365760" cy="36576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tem 10"/>
          <p:cNvSpPr txBox="1"/>
          <p:nvPr/>
        </p:nvSpPr>
        <p:spPr>
          <a:xfrm>
            <a:off x="4556455" y="4297680"/>
            <a:ext cx="292608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2200" b="1">
                <a:solidFill>
                  <a:srgbClr val="1C1C18"/>
                </a:solidFill>
                <a:latin typeface="Segoe UI"/>
              </a:rPr>
              <a:t>الطلبات تضيع أو تُكتب بشكل خاطئ.</a:t>
            </a:r>
          </a:p>
        </p:txBody>
      </p:sp>
      <p:sp>
        <p:nvSpPr>
          <p:cNvPr id="12" name="Item 11"/>
          <p:cNvSpPr/>
          <p:nvPr/>
        </p:nvSpPr>
        <p:spPr>
          <a:xfrm>
            <a:off x="578815" y="2926080"/>
            <a:ext cx="3474720" cy="301752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tem 12"/>
          <p:cNvSpPr/>
          <p:nvPr/>
        </p:nvSpPr>
        <p:spPr>
          <a:xfrm>
            <a:off x="2910535" y="3246120"/>
            <a:ext cx="822960" cy="822960"/>
          </a:xfrm>
          <a:prstGeom prst="ellipse">
            <a:avLst/>
          </a:prstGeom>
          <a:solidFill>
            <a:srgbClr val="FF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139135" y="3474720"/>
            <a:ext cx="365760" cy="36576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tem 14"/>
          <p:cNvSpPr txBox="1"/>
          <p:nvPr/>
        </p:nvSpPr>
        <p:spPr>
          <a:xfrm>
            <a:off x="853135" y="4297680"/>
            <a:ext cx="292608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2200" b="1">
                <a:solidFill>
                  <a:srgbClr val="1C1C18"/>
                </a:solidFill>
                <a:latin typeface="Segoe UI"/>
              </a:rPr>
              <a:t>المالك لا يرى الأرقام إلا في آخر الشهر.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4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7" grpId="0"/>
      <p:bldP spid="8" grpId="0" animBg="1"/>
      <p:bldP spid="9" grpId="0" animBg="1"/>
      <p:bldP spid="11" grpId="0"/>
      <p:bldP spid="12" grpId="0" animBg="1"/>
      <p:bldP spid="13" grpId="0" animBg="1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DE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tem 1"/>
          <p:cNvSpPr txBox="1"/>
          <p:nvPr/>
        </p:nvSpPr>
        <p:spPr>
          <a:xfrm>
            <a:off x="1401775" y="64008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500" b="1">
                <a:solidFill>
                  <a:srgbClr val="BA5333"/>
                </a:solidFill>
                <a:latin typeface="Segoe UI"/>
              </a:rPr>
              <a:t>كيف يعمل</a:t>
            </a:r>
          </a:p>
        </p:txBody>
      </p:sp>
      <p:sp>
        <p:nvSpPr>
          <p:cNvPr id="3" name="Item 2"/>
          <p:cNvSpPr txBox="1"/>
          <p:nvPr/>
        </p:nvSpPr>
        <p:spPr>
          <a:xfrm>
            <a:off x="944575" y="1097280"/>
            <a:ext cx="105156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4400" b="1">
                <a:solidFill>
                  <a:srgbClr val="1C1C18"/>
                </a:solidFill>
                <a:latin typeface="Segoe UI"/>
              </a:rPr>
              <a:t>من الطاولة إلى الكاشير في أربع خطوات</a:t>
            </a:r>
          </a:p>
        </p:txBody>
      </p:sp>
      <p:sp>
        <p:nvSpPr>
          <p:cNvPr id="4" name="Item 3"/>
          <p:cNvSpPr/>
          <p:nvPr/>
        </p:nvSpPr>
        <p:spPr>
          <a:xfrm>
            <a:off x="2663647" y="3236976"/>
            <a:ext cx="8366760" cy="64008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tem 4"/>
          <p:cNvSpPr/>
          <p:nvPr/>
        </p:nvSpPr>
        <p:spPr>
          <a:xfrm>
            <a:off x="10591495" y="2834640"/>
            <a:ext cx="868680" cy="868680"/>
          </a:xfrm>
          <a:prstGeom prst="ellipse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rtl="1"/>
            <a:r>
              <a:rPr sz="2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Item 5"/>
          <p:cNvSpPr/>
          <p:nvPr/>
        </p:nvSpPr>
        <p:spPr>
          <a:xfrm>
            <a:off x="8899855" y="3977639"/>
            <a:ext cx="2560320" cy="201168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Item 6"/>
          <p:cNvSpPr txBox="1"/>
          <p:nvPr/>
        </p:nvSpPr>
        <p:spPr>
          <a:xfrm>
            <a:off x="9082735" y="4206240"/>
            <a:ext cx="214884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900" b="1">
                <a:solidFill>
                  <a:srgbClr val="1C1C18"/>
                </a:solidFill>
                <a:latin typeface="Segoe UI"/>
              </a:rPr>
              <a:t>امسح رمز QR على الطاولة.</a:t>
            </a:r>
          </a:p>
        </p:txBody>
      </p:sp>
      <p:sp>
        <p:nvSpPr>
          <p:cNvPr id="8" name="Item 7"/>
          <p:cNvSpPr/>
          <p:nvPr/>
        </p:nvSpPr>
        <p:spPr>
          <a:xfrm>
            <a:off x="7802575" y="2834640"/>
            <a:ext cx="868680" cy="868680"/>
          </a:xfrm>
          <a:prstGeom prst="ellipse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rtl="1"/>
            <a:r>
              <a:rPr sz="2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Item 8"/>
          <p:cNvSpPr/>
          <p:nvPr/>
        </p:nvSpPr>
        <p:spPr>
          <a:xfrm>
            <a:off x="6110935" y="3977639"/>
            <a:ext cx="2560320" cy="201168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tem 9"/>
          <p:cNvSpPr txBox="1"/>
          <p:nvPr/>
        </p:nvSpPr>
        <p:spPr>
          <a:xfrm>
            <a:off x="6293815" y="4206240"/>
            <a:ext cx="214884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900" b="1">
                <a:solidFill>
                  <a:srgbClr val="1C1C18"/>
                </a:solidFill>
                <a:latin typeface="Segoe UI"/>
              </a:rPr>
              <a:t>اختر الأطباق وأرسل.</a:t>
            </a:r>
          </a:p>
        </p:txBody>
      </p:sp>
      <p:sp>
        <p:nvSpPr>
          <p:cNvPr id="11" name="Item 10"/>
          <p:cNvSpPr/>
          <p:nvPr/>
        </p:nvSpPr>
        <p:spPr>
          <a:xfrm>
            <a:off x="5013655" y="2834640"/>
            <a:ext cx="868680" cy="868680"/>
          </a:xfrm>
          <a:prstGeom prst="ellipse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rtl="1"/>
            <a:r>
              <a:rPr sz="2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Item 11"/>
          <p:cNvSpPr/>
          <p:nvPr/>
        </p:nvSpPr>
        <p:spPr>
          <a:xfrm>
            <a:off x="3322015" y="3977639"/>
            <a:ext cx="2560320" cy="201168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tem 12"/>
          <p:cNvSpPr txBox="1"/>
          <p:nvPr/>
        </p:nvSpPr>
        <p:spPr>
          <a:xfrm>
            <a:off x="3504895" y="4206240"/>
            <a:ext cx="214884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900" b="1">
                <a:solidFill>
                  <a:srgbClr val="1C1C18"/>
                </a:solidFill>
                <a:latin typeface="Segoe UI"/>
              </a:rPr>
              <a:t>الكاشير يسمع التنبيه ويرى الطلب.</a:t>
            </a:r>
          </a:p>
        </p:txBody>
      </p:sp>
      <p:sp>
        <p:nvSpPr>
          <p:cNvPr id="14" name="Item 13"/>
          <p:cNvSpPr/>
          <p:nvPr/>
        </p:nvSpPr>
        <p:spPr>
          <a:xfrm>
            <a:off x="2224735" y="2834640"/>
            <a:ext cx="868680" cy="8686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rtl="1"/>
            <a:r>
              <a:rPr sz="2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Item 14"/>
          <p:cNvSpPr/>
          <p:nvPr/>
        </p:nvSpPr>
        <p:spPr>
          <a:xfrm>
            <a:off x="533095" y="3977639"/>
            <a:ext cx="2560320" cy="201168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tem 15"/>
          <p:cNvSpPr txBox="1"/>
          <p:nvPr/>
        </p:nvSpPr>
        <p:spPr>
          <a:xfrm>
            <a:off x="715975" y="4206240"/>
            <a:ext cx="214884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900" b="1">
                <a:solidFill>
                  <a:srgbClr val="1C1C18"/>
                </a:solidFill>
                <a:latin typeface="Segoe UI"/>
              </a:rPr>
              <a:t>ادفع واطبع الإيصال.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4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9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4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4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4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4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4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4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44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4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6" grpId="0" animBg="1"/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tem 1"/>
          <p:cNvSpPr txBox="1"/>
          <p:nvPr/>
        </p:nvSpPr>
        <p:spPr>
          <a:xfrm>
            <a:off x="1401775" y="64008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500" b="1">
                <a:solidFill>
                  <a:srgbClr val="BA5333"/>
                </a:solidFill>
                <a:latin typeface="Segoe UI"/>
              </a:rPr>
              <a:t>نظام واحد لثلاثة أشخاص</a:t>
            </a:r>
          </a:p>
        </p:txBody>
      </p:sp>
      <p:sp>
        <p:nvSpPr>
          <p:cNvPr id="3" name="Item 2"/>
          <p:cNvSpPr/>
          <p:nvPr/>
        </p:nvSpPr>
        <p:spPr>
          <a:xfrm>
            <a:off x="7985455" y="1280160"/>
            <a:ext cx="3474720" cy="493776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tem 3"/>
          <p:cNvSpPr/>
          <p:nvPr/>
        </p:nvSpPr>
        <p:spPr>
          <a:xfrm>
            <a:off x="7985455" y="128016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r" rtl="1"/>
            <a:r>
              <a:rPr sz="2600" b="1">
                <a:solidFill>
                  <a:srgbClr val="FFFFFF"/>
                </a:solidFill>
                <a:latin typeface="Segoe UI"/>
              </a:rPr>
              <a:t>الزبائن</a:t>
            </a:r>
          </a:p>
        </p:txBody>
      </p:sp>
      <p:sp>
        <p:nvSpPr>
          <p:cNvPr id="5" name="Item 4"/>
          <p:cNvSpPr/>
          <p:nvPr/>
        </p:nvSpPr>
        <p:spPr>
          <a:xfrm>
            <a:off x="11039551" y="26426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tem 5"/>
          <p:cNvSpPr txBox="1"/>
          <p:nvPr/>
        </p:nvSpPr>
        <p:spPr>
          <a:xfrm>
            <a:off x="8168335" y="25146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700" b="0">
                <a:solidFill>
                  <a:srgbClr val="1C1C18"/>
                </a:solidFill>
                <a:latin typeface="Segoe UI"/>
              </a:rPr>
              <a:t>يقرأون القائمة بدون حساب</a:t>
            </a:r>
          </a:p>
        </p:txBody>
      </p:sp>
      <p:sp>
        <p:nvSpPr>
          <p:cNvPr id="7" name="Item 6"/>
          <p:cNvSpPr/>
          <p:nvPr/>
        </p:nvSpPr>
        <p:spPr>
          <a:xfrm>
            <a:off x="11039551" y="35570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tem 7"/>
          <p:cNvSpPr txBox="1"/>
          <p:nvPr/>
        </p:nvSpPr>
        <p:spPr>
          <a:xfrm>
            <a:off x="8168335" y="34290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700" b="0">
                <a:solidFill>
                  <a:srgbClr val="1C1C18"/>
                </a:solidFill>
                <a:latin typeface="Segoe UI"/>
              </a:rPr>
              <a:t>يطلبون ويضيفون لاحقاً</a:t>
            </a:r>
          </a:p>
        </p:txBody>
      </p:sp>
      <p:sp>
        <p:nvSpPr>
          <p:cNvPr id="9" name="Item 8"/>
          <p:cNvSpPr/>
          <p:nvPr/>
        </p:nvSpPr>
        <p:spPr>
          <a:xfrm>
            <a:off x="11039551" y="44714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tem 9"/>
          <p:cNvSpPr txBox="1"/>
          <p:nvPr/>
        </p:nvSpPr>
        <p:spPr>
          <a:xfrm>
            <a:off x="8168335" y="43434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700" b="0">
                <a:solidFill>
                  <a:srgbClr val="1C1C18"/>
                </a:solidFill>
                <a:latin typeface="Segoe UI"/>
              </a:rPr>
              <a:t>يتابعون الطلب مباشرة</a:t>
            </a:r>
          </a:p>
        </p:txBody>
      </p:sp>
      <p:sp>
        <p:nvSpPr>
          <p:cNvPr id="11" name="Item 10"/>
          <p:cNvSpPr/>
          <p:nvPr/>
        </p:nvSpPr>
        <p:spPr>
          <a:xfrm>
            <a:off x="11039551" y="53858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tem 11"/>
          <p:cNvSpPr txBox="1"/>
          <p:nvPr/>
        </p:nvSpPr>
        <p:spPr>
          <a:xfrm>
            <a:off x="8168335" y="52578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700" b="0">
                <a:solidFill>
                  <a:srgbClr val="1C1C18"/>
                </a:solidFill>
                <a:latin typeface="Segoe UI"/>
              </a:rPr>
              <a:t>ينادون الموظف أو يطلبون الفاتورة</a:t>
            </a:r>
          </a:p>
        </p:txBody>
      </p:sp>
      <p:sp>
        <p:nvSpPr>
          <p:cNvPr id="13" name="Item 12"/>
          <p:cNvSpPr/>
          <p:nvPr/>
        </p:nvSpPr>
        <p:spPr>
          <a:xfrm>
            <a:off x="4282135" y="1280160"/>
            <a:ext cx="3474720" cy="493776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Item 13"/>
          <p:cNvSpPr/>
          <p:nvPr/>
        </p:nvSpPr>
        <p:spPr>
          <a:xfrm>
            <a:off x="4282135" y="128016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r" rtl="1"/>
            <a:r>
              <a:rPr sz="2600" b="1">
                <a:solidFill>
                  <a:srgbClr val="FFFFFF"/>
                </a:solidFill>
                <a:latin typeface="Segoe UI"/>
              </a:rPr>
              <a:t>الكاشير</a:t>
            </a:r>
          </a:p>
        </p:txBody>
      </p:sp>
      <p:sp>
        <p:nvSpPr>
          <p:cNvPr id="15" name="Item 14"/>
          <p:cNvSpPr/>
          <p:nvPr/>
        </p:nvSpPr>
        <p:spPr>
          <a:xfrm>
            <a:off x="7336231" y="26426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tem 15"/>
          <p:cNvSpPr txBox="1"/>
          <p:nvPr/>
        </p:nvSpPr>
        <p:spPr>
          <a:xfrm>
            <a:off x="4465015" y="25146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700" b="0">
                <a:solidFill>
                  <a:srgbClr val="1C1C18"/>
                </a:solidFill>
                <a:latin typeface="Segoe UI"/>
              </a:rPr>
              <a:t>تنبيهات للطلبات والنداءات</a:t>
            </a:r>
          </a:p>
        </p:txBody>
      </p:sp>
      <p:sp>
        <p:nvSpPr>
          <p:cNvPr id="17" name="Item 16"/>
          <p:cNvSpPr/>
          <p:nvPr/>
        </p:nvSpPr>
        <p:spPr>
          <a:xfrm>
            <a:off x="7336231" y="35570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Item 17"/>
          <p:cNvSpPr txBox="1"/>
          <p:nvPr/>
        </p:nvSpPr>
        <p:spPr>
          <a:xfrm>
            <a:off x="4465015" y="34290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700" b="0">
                <a:solidFill>
                  <a:srgbClr val="1C1C18"/>
                </a:solidFill>
                <a:latin typeface="Segoe UI"/>
              </a:rPr>
              <a:t>يستلم الدفع ويبيع السفري</a:t>
            </a:r>
          </a:p>
        </p:txBody>
      </p:sp>
      <p:sp>
        <p:nvSpPr>
          <p:cNvPr id="19" name="Item 18"/>
          <p:cNvSpPr/>
          <p:nvPr/>
        </p:nvSpPr>
        <p:spPr>
          <a:xfrm>
            <a:off x="7336231" y="44714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tem 19"/>
          <p:cNvSpPr txBox="1"/>
          <p:nvPr/>
        </p:nvSpPr>
        <p:spPr>
          <a:xfrm>
            <a:off x="4465015" y="43434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700" b="0">
                <a:solidFill>
                  <a:srgbClr val="1C1C18"/>
                </a:solidFill>
                <a:latin typeface="Segoe UI"/>
              </a:rPr>
              <a:t>يفعّل الأطباق أو يوقفها</a:t>
            </a:r>
          </a:p>
        </p:txBody>
      </p:sp>
      <p:sp>
        <p:nvSpPr>
          <p:cNvPr id="21" name="Item 20"/>
          <p:cNvSpPr/>
          <p:nvPr/>
        </p:nvSpPr>
        <p:spPr>
          <a:xfrm>
            <a:off x="7336231" y="53858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tem 21"/>
          <p:cNvSpPr txBox="1"/>
          <p:nvPr/>
        </p:nvSpPr>
        <p:spPr>
          <a:xfrm>
            <a:off x="4465015" y="52578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700" b="0">
                <a:solidFill>
                  <a:srgbClr val="1C1C18"/>
                </a:solidFill>
                <a:latin typeface="Segoe UI"/>
              </a:rPr>
              <a:t>يسجّل المصروفات ويفتح الوردية ويغلقها</a:t>
            </a:r>
          </a:p>
        </p:txBody>
      </p:sp>
      <p:sp>
        <p:nvSpPr>
          <p:cNvPr id="23" name="Item 22"/>
          <p:cNvSpPr/>
          <p:nvPr/>
        </p:nvSpPr>
        <p:spPr>
          <a:xfrm>
            <a:off x="578815" y="1280160"/>
            <a:ext cx="3474720" cy="4937760"/>
          </a:xfrm>
          <a:prstGeom prst="roundRect">
            <a:avLst>
              <a:gd name="adj" fmla="val 12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tem 23"/>
          <p:cNvSpPr/>
          <p:nvPr/>
        </p:nvSpPr>
        <p:spPr>
          <a:xfrm>
            <a:off x="578815" y="128016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4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r" rtl="1"/>
            <a:r>
              <a:rPr sz="2600" b="1">
                <a:solidFill>
                  <a:srgbClr val="FFFFFF"/>
                </a:solidFill>
                <a:latin typeface="Segoe UI"/>
              </a:rPr>
              <a:t>المالك</a:t>
            </a:r>
          </a:p>
        </p:txBody>
      </p:sp>
      <p:sp>
        <p:nvSpPr>
          <p:cNvPr id="25" name="Item 24"/>
          <p:cNvSpPr/>
          <p:nvPr/>
        </p:nvSpPr>
        <p:spPr>
          <a:xfrm>
            <a:off x="3632911" y="26426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tem 25"/>
          <p:cNvSpPr txBox="1"/>
          <p:nvPr/>
        </p:nvSpPr>
        <p:spPr>
          <a:xfrm>
            <a:off x="761695" y="25146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700" b="0">
                <a:solidFill>
                  <a:srgbClr val="1C1C18"/>
                </a:solidFill>
                <a:latin typeface="Segoe UI"/>
              </a:rPr>
              <a:t>يعدّل القائمة والأسعار والخصومات</a:t>
            </a:r>
          </a:p>
        </p:txBody>
      </p:sp>
      <p:sp>
        <p:nvSpPr>
          <p:cNvPr id="27" name="Item 26"/>
          <p:cNvSpPr/>
          <p:nvPr/>
        </p:nvSpPr>
        <p:spPr>
          <a:xfrm>
            <a:off x="3632911" y="35570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Item 27"/>
          <p:cNvSpPr txBox="1"/>
          <p:nvPr/>
        </p:nvSpPr>
        <p:spPr>
          <a:xfrm>
            <a:off x="761695" y="34290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700" b="0">
                <a:solidFill>
                  <a:srgbClr val="1C1C18"/>
                </a:solidFill>
                <a:latin typeface="Segoe UI"/>
              </a:rPr>
              <a:t>يضيف الطاولات ويطبع رموز QR</a:t>
            </a:r>
          </a:p>
        </p:txBody>
      </p:sp>
      <p:sp>
        <p:nvSpPr>
          <p:cNvPr id="29" name="Item 28"/>
          <p:cNvSpPr/>
          <p:nvPr/>
        </p:nvSpPr>
        <p:spPr>
          <a:xfrm>
            <a:off x="3632911" y="44714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Item 29"/>
          <p:cNvSpPr txBox="1"/>
          <p:nvPr/>
        </p:nvSpPr>
        <p:spPr>
          <a:xfrm>
            <a:off x="761695" y="43434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700" b="0">
                <a:solidFill>
                  <a:srgbClr val="1C1C18"/>
                </a:solidFill>
                <a:latin typeface="Segoe UI"/>
              </a:rPr>
              <a:t>يرى المبيعات والمصروفات</a:t>
            </a:r>
          </a:p>
        </p:txBody>
      </p:sp>
      <p:sp>
        <p:nvSpPr>
          <p:cNvPr id="31" name="Item 30"/>
          <p:cNvSpPr/>
          <p:nvPr/>
        </p:nvSpPr>
        <p:spPr>
          <a:xfrm>
            <a:off x="3632911" y="5385816"/>
            <a:ext cx="146304" cy="146304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Item 31"/>
          <p:cNvSpPr txBox="1"/>
          <p:nvPr/>
        </p:nvSpPr>
        <p:spPr>
          <a:xfrm>
            <a:off x="761695" y="5257800"/>
            <a:ext cx="2743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700" b="0">
                <a:solidFill>
                  <a:srgbClr val="1C1C18"/>
                </a:solidFill>
                <a:latin typeface="Segoe UI"/>
              </a:rPr>
              <a:t>يصدّر تقارير CSV أو PDF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4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59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6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6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 animBg="1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/>
      <p:bldP spid="23" grpId="0" animBg="1"/>
      <p:bldP spid="24" grpId="0" animBg="1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463040"/>
            <a:ext cx="5669280" cy="5669280"/>
          </a:xfrm>
          <a:prstGeom prst="ellipse">
            <a:avLst/>
          </a:prstGeom>
          <a:solidFill>
            <a:srgbClr val="244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tem 2"/>
          <p:cNvSpPr txBox="1"/>
          <p:nvPr/>
        </p:nvSpPr>
        <p:spPr>
          <a:xfrm>
            <a:off x="1401775" y="64008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500" b="1">
                <a:solidFill>
                  <a:srgbClr val="FFDBD1"/>
                </a:solidFill>
                <a:latin typeface="Segoe UI"/>
              </a:rPr>
              <a:t>كاشير ويندوز</a:t>
            </a:r>
          </a:p>
        </p:txBody>
      </p:sp>
      <p:sp>
        <p:nvSpPr>
          <p:cNvPr id="4" name="Item 3"/>
          <p:cNvSpPr txBox="1"/>
          <p:nvPr/>
        </p:nvSpPr>
        <p:spPr>
          <a:xfrm>
            <a:off x="5150815" y="1097280"/>
            <a:ext cx="630936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4400" b="1">
                <a:solidFill>
                  <a:srgbClr val="FDF9F2"/>
                </a:solidFill>
                <a:latin typeface="Segoe UI"/>
              </a:rPr>
              <a:t>يواصل البيع حتى لو انقطع الإنترنت</a:t>
            </a:r>
          </a:p>
        </p:txBody>
      </p:sp>
      <p:sp>
        <p:nvSpPr>
          <p:cNvPr id="5" name="Item 4"/>
          <p:cNvSpPr/>
          <p:nvPr/>
        </p:nvSpPr>
        <p:spPr>
          <a:xfrm>
            <a:off x="11277295" y="3803904"/>
            <a:ext cx="182880" cy="1828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tem 5"/>
          <p:cNvSpPr txBox="1"/>
          <p:nvPr/>
        </p:nvSpPr>
        <p:spPr>
          <a:xfrm>
            <a:off x="5928055" y="3657600"/>
            <a:ext cx="51206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2200" b="0">
                <a:solidFill>
                  <a:srgbClr val="FDF9F2"/>
                </a:solidFill>
                <a:latin typeface="Segoe UI"/>
              </a:rPr>
              <a:t>يبيع بدون توقف مهما كان الاتصال.</a:t>
            </a:r>
          </a:p>
        </p:txBody>
      </p:sp>
      <p:sp>
        <p:nvSpPr>
          <p:cNvPr id="7" name="Item 6"/>
          <p:cNvSpPr/>
          <p:nvPr/>
        </p:nvSpPr>
        <p:spPr>
          <a:xfrm>
            <a:off x="11277295" y="4809744"/>
            <a:ext cx="182880" cy="1828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tem 7"/>
          <p:cNvSpPr txBox="1"/>
          <p:nvPr/>
        </p:nvSpPr>
        <p:spPr>
          <a:xfrm>
            <a:off x="5928055" y="4663440"/>
            <a:ext cx="51206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2200" b="0">
                <a:solidFill>
                  <a:srgbClr val="FDF9F2"/>
                </a:solidFill>
                <a:latin typeface="Segoe UI"/>
              </a:rPr>
              <a:t>الشاشات تتحدّث مباشرة خلال ثوانٍ.</a:t>
            </a:r>
          </a:p>
        </p:txBody>
      </p:sp>
      <p:sp>
        <p:nvSpPr>
          <p:cNvPr id="9" name="Item 8"/>
          <p:cNvSpPr/>
          <p:nvPr/>
        </p:nvSpPr>
        <p:spPr>
          <a:xfrm>
            <a:off x="761695" y="1371600"/>
            <a:ext cx="4114800" cy="1097280"/>
          </a:xfrm>
          <a:prstGeom prst="roundRect">
            <a:avLst>
              <a:gd name="adj" fmla="val 12000"/>
            </a:avLst>
          </a:prstGeom>
          <a:solidFill>
            <a:srgbClr val="2D5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 rtl="1"/>
            <a:r>
              <a:rPr sz="1800" b="1">
                <a:solidFill>
                  <a:srgbClr val="FDF9F2"/>
                </a:solidFill>
                <a:latin typeface="Segoe UI"/>
              </a:rPr>
              <a:t>البيع يُحفظ على الجهاز</a:t>
            </a:r>
          </a:p>
        </p:txBody>
      </p:sp>
      <p:sp>
        <p:nvSpPr>
          <p:cNvPr id="10" name="Item 9"/>
          <p:cNvSpPr/>
          <p:nvPr/>
        </p:nvSpPr>
        <p:spPr>
          <a:xfrm>
            <a:off x="2590495" y="2514600"/>
            <a:ext cx="457200" cy="365760"/>
          </a:xfrm>
          <a:prstGeom prst="downArrow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tem 10"/>
          <p:cNvSpPr/>
          <p:nvPr/>
        </p:nvSpPr>
        <p:spPr>
          <a:xfrm>
            <a:off x="761695" y="3017520"/>
            <a:ext cx="4114800" cy="1097280"/>
          </a:xfrm>
          <a:prstGeom prst="roundRect">
            <a:avLst>
              <a:gd name="adj" fmla="val 12000"/>
            </a:avLst>
          </a:prstGeom>
          <a:solidFill>
            <a:srgbClr val="FF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 rtl="1"/>
            <a:r>
              <a:rPr sz="1800" b="1">
                <a:solidFill>
                  <a:srgbClr val="1C1C18"/>
                </a:solidFill>
                <a:latin typeface="Segoe UI"/>
              </a:rPr>
              <a:t>عاد الإنترنت ويدخل الكاشير رمزه</a:t>
            </a:r>
          </a:p>
        </p:txBody>
      </p:sp>
      <p:sp>
        <p:nvSpPr>
          <p:cNvPr id="12" name="Item 11"/>
          <p:cNvSpPr/>
          <p:nvPr/>
        </p:nvSpPr>
        <p:spPr>
          <a:xfrm>
            <a:off x="2590495" y="4160520"/>
            <a:ext cx="457200" cy="365760"/>
          </a:xfrm>
          <a:prstGeom prst="downArrow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tem 12"/>
          <p:cNvSpPr/>
          <p:nvPr/>
        </p:nvSpPr>
        <p:spPr>
          <a:xfrm>
            <a:off x="761695" y="4663440"/>
            <a:ext cx="4114800" cy="1097280"/>
          </a:xfrm>
          <a:prstGeom prst="roundRect">
            <a:avLst>
              <a:gd name="adj" fmla="val 12000"/>
            </a:avLst>
          </a:prstGeom>
          <a:solidFill>
            <a:srgbClr val="4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 rtl="1"/>
            <a:r>
              <a:rPr sz="1800" b="1">
                <a:solidFill>
                  <a:srgbClr val="FFFFFF"/>
                </a:solidFill>
                <a:latin typeface="Segoe UI"/>
              </a:rPr>
              <a:t>تم رفع المبيعات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4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4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4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4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4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44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4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DE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2011680"/>
            <a:ext cx="5120640" cy="5120640"/>
          </a:xfrm>
          <a:prstGeom prst="ellipse">
            <a:avLst/>
          </a:prstGeom>
          <a:solidFill>
            <a:srgbClr val="FF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tem 2"/>
          <p:cNvSpPr txBox="1"/>
          <p:nvPr/>
        </p:nvSpPr>
        <p:spPr>
          <a:xfrm>
            <a:off x="1401775" y="640080"/>
            <a:ext cx="10058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500" b="1">
                <a:solidFill>
                  <a:srgbClr val="BA5333"/>
                </a:solidFill>
                <a:latin typeface="Segoe UI"/>
              </a:rPr>
              <a:t>لغتان</a:t>
            </a:r>
          </a:p>
        </p:txBody>
      </p:sp>
      <p:sp>
        <p:nvSpPr>
          <p:cNvPr id="4" name="Item 3"/>
          <p:cNvSpPr txBox="1"/>
          <p:nvPr/>
        </p:nvSpPr>
        <p:spPr>
          <a:xfrm>
            <a:off x="944575" y="1097280"/>
            <a:ext cx="105156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4400" b="1">
                <a:solidFill>
                  <a:srgbClr val="1C1C18"/>
                </a:solidFill>
                <a:latin typeface="Segoe UI"/>
              </a:rPr>
              <a:t>عربي وإنجليزي بنفس الجودة</a:t>
            </a:r>
          </a:p>
        </p:txBody>
      </p:sp>
      <p:sp>
        <p:nvSpPr>
          <p:cNvPr id="5" name="Item 4"/>
          <p:cNvSpPr/>
          <p:nvPr/>
        </p:nvSpPr>
        <p:spPr>
          <a:xfrm>
            <a:off x="11277295" y="3145536"/>
            <a:ext cx="182880" cy="1828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tem 5"/>
          <p:cNvSpPr txBox="1"/>
          <p:nvPr/>
        </p:nvSpPr>
        <p:spPr>
          <a:xfrm>
            <a:off x="6019495" y="3017520"/>
            <a:ext cx="50292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2000" b="0">
                <a:solidFill>
                  <a:srgbClr val="1C1C18"/>
                </a:solidFill>
                <a:latin typeface="Segoe UI"/>
              </a:rPr>
              <a:t>العربية من اليمين لليسار في كل الشاشات.</a:t>
            </a:r>
          </a:p>
        </p:txBody>
      </p:sp>
      <p:sp>
        <p:nvSpPr>
          <p:cNvPr id="7" name="Item 6"/>
          <p:cNvSpPr/>
          <p:nvPr/>
        </p:nvSpPr>
        <p:spPr>
          <a:xfrm>
            <a:off x="11277295" y="4151376"/>
            <a:ext cx="182880" cy="1828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tem 7"/>
          <p:cNvSpPr txBox="1"/>
          <p:nvPr/>
        </p:nvSpPr>
        <p:spPr>
          <a:xfrm>
            <a:off x="6019495" y="4023360"/>
            <a:ext cx="50292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2000" b="0">
                <a:solidFill>
                  <a:srgbClr val="1C1C18"/>
                </a:solidFill>
                <a:latin typeface="Segoe UI"/>
              </a:rPr>
              <a:t>الإيصالات تُطبع باللغتين.</a:t>
            </a:r>
          </a:p>
        </p:txBody>
      </p:sp>
      <p:sp>
        <p:nvSpPr>
          <p:cNvPr id="9" name="Item 8"/>
          <p:cNvSpPr/>
          <p:nvPr/>
        </p:nvSpPr>
        <p:spPr>
          <a:xfrm>
            <a:off x="11277295" y="5157216"/>
            <a:ext cx="182880" cy="182880"/>
          </a:xfrm>
          <a:prstGeom prst="ellipse">
            <a:avLst/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tem 9"/>
          <p:cNvSpPr txBox="1"/>
          <p:nvPr/>
        </p:nvSpPr>
        <p:spPr>
          <a:xfrm>
            <a:off x="6019495" y="5029200"/>
            <a:ext cx="50292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2000" b="0">
                <a:solidFill>
                  <a:srgbClr val="1C1C18"/>
                </a:solidFill>
                <a:latin typeface="Segoe UI"/>
              </a:rPr>
              <a:t>شعارك وألوانك على قائمة الزبون.</a:t>
            </a:r>
          </a:p>
        </p:txBody>
      </p:sp>
      <p:sp>
        <p:nvSpPr>
          <p:cNvPr id="11" name="Item 10"/>
          <p:cNvSpPr/>
          <p:nvPr/>
        </p:nvSpPr>
        <p:spPr>
          <a:xfrm>
            <a:off x="3047695" y="2377440"/>
            <a:ext cx="2468880" cy="3840480"/>
          </a:xfrm>
          <a:prstGeom prst="roundRect">
            <a:avLst>
              <a:gd name="adj" fmla="val 10000"/>
            </a:avLst>
          </a:prstGeom>
          <a:solidFill>
            <a:srgbClr val="FDF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tem 11"/>
          <p:cNvSpPr/>
          <p:nvPr/>
        </p:nvSpPr>
        <p:spPr>
          <a:xfrm>
            <a:off x="3230575" y="2651760"/>
            <a:ext cx="2103120" cy="1005840"/>
          </a:xfrm>
          <a:prstGeom prst="roundRect">
            <a:avLst>
              <a:gd name="adj" fmla="val 15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tem 12"/>
          <p:cNvSpPr txBox="1"/>
          <p:nvPr/>
        </p:nvSpPr>
        <p:spPr>
          <a:xfrm>
            <a:off x="3367735" y="2834640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C1C18"/>
                </a:solidFill>
                <a:latin typeface="Segoe UI"/>
              </a:rPr>
              <a:t>Cappuccino</a:t>
            </a:r>
          </a:p>
        </p:txBody>
      </p:sp>
      <p:sp>
        <p:nvSpPr>
          <p:cNvPr id="14" name="Item 13"/>
          <p:cNvSpPr/>
          <p:nvPr/>
        </p:nvSpPr>
        <p:spPr>
          <a:xfrm>
            <a:off x="3413455" y="333756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Item 14"/>
          <p:cNvSpPr/>
          <p:nvPr/>
        </p:nvSpPr>
        <p:spPr>
          <a:xfrm>
            <a:off x="3230575" y="3886200"/>
            <a:ext cx="2103120" cy="1005840"/>
          </a:xfrm>
          <a:prstGeom prst="roundRect">
            <a:avLst>
              <a:gd name="adj" fmla="val 15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tem 15"/>
          <p:cNvSpPr txBox="1"/>
          <p:nvPr/>
        </p:nvSpPr>
        <p:spPr>
          <a:xfrm>
            <a:off x="3367735" y="4069080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C1C18"/>
                </a:solidFill>
                <a:latin typeface="Segoe UI"/>
              </a:rPr>
              <a:t>Croissant</a:t>
            </a:r>
          </a:p>
        </p:txBody>
      </p:sp>
      <p:sp>
        <p:nvSpPr>
          <p:cNvPr id="17" name="Item 16"/>
          <p:cNvSpPr/>
          <p:nvPr/>
        </p:nvSpPr>
        <p:spPr>
          <a:xfrm>
            <a:off x="3413455" y="457200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Item 17"/>
          <p:cNvSpPr/>
          <p:nvPr/>
        </p:nvSpPr>
        <p:spPr>
          <a:xfrm>
            <a:off x="3230575" y="5303520"/>
            <a:ext cx="2103120" cy="640080"/>
          </a:xfrm>
          <a:prstGeom prst="roundRect">
            <a:avLst>
              <a:gd name="adj" fmla="val 50000"/>
            </a:avLst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Order</a:t>
            </a:r>
          </a:p>
        </p:txBody>
      </p:sp>
      <p:sp>
        <p:nvSpPr>
          <p:cNvPr id="19" name="Item 18"/>
          <p:cNvSpPr/>
          <p:nvPr/>
        </p:nvSpPr>
        <p:spPr>
          <a:xfrm>
            <a:off x="395935" y="2377440"/>
            <a:ext cx="2468880" cy="3840480"/>
          </a:xfrm>
          <a:prstGeom prst="roundRect">
            <a:avLst>
              <a:gd name="adj" fmla="val 10000"/>
            </a:avLst>
          </a:prstGeom>
          <a:solidFill>
            <a:srgbClr val="FDF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tem 19"/>
          <p:cNvSpPr/>
          <p:nvPr/>
        </p:nvSpPr>
        <p:spPr>
          <a:xfrm>
            <a:off x="578815" y="2651760"/>
            <a:ext cx="2103120" cy="1005840"/>
          </a:xfrm>
          <a:prstGeom prst="roundRect">
            <a:avLst>
              <a:gd name="adj" fmla="val 15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tem 20"/>
          <p:cNvSpPr txBox="1"/>
          <p:nvPr/>
        </p:nvSpPr>
        <p:spPr>
          <a:xfrm>
            <a:off x="715975" y="2834640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700" b="1">
                <a:solidFill>
                  <a:srgbClr val="1C1C18"/>
                </a:solidFill>
                <a:latin typeface="Segoe UI"/>
              </a:rPr>
              <a:t>كابتشينو</a:t>
            </a:r>
          </a:p>
        </p:txBody>
      </p:sp>
      <p:sp>
        <p:nvSpPr>
          <p:cNvPr id="22" name="Item 21"/>
          <p:cNvSpPr/>
          <p:nvPr/>
        </p:nvSpPr>
        <p:spPr>
          <a:xfrm>
            <a:off x="1676095" y="333756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tem 22"/>
          <p:cNvSpPr/>
          <p:nvPr/>
        </p:nvSpPr>
        <p:spPr>
          <a:xfrm>
            <a:off x="578815" y="3886200"/>
            <a:ext cx="2103120" cy="1005840"/>
          </a:xfrm>
          <a:prstGeom prst="roundRect">
            <a:avLst>
              <a:gd name="adj" fmla="val 15000"/>
            </a:avLst>
          </a:prstGeom>
          <a:solidFill>
            <a:srgbClr val="F1ED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tem 23"/>
          <p:cNvSpPr txBox="1"/>
          <p:nvPr/>
        </p:nvSpPr>
        <p:spPr>
          <a:xfrm>
            <a:off x="715975" y="4069080"/>
            <a:ext cx="1828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700" b="1">
                <a:solidFill>
                  <a:srgbClr val="1C1C18"/>
                </a:solidFill>
                <a:latin typeface="Segoe UI"/>
              </a:rPr>
              <a:t>كرواسون</a:t>
            </a:r>
          </a:p>
        </p:txBody>
      </p:sp>
      <p:sp>
        <p:nvSpPr>
          <p:cNvPr id="25" name="Item 24"/>
          <p:cNvSpPr/>
          <p:nvPr/>
        </p:nvSpPr>
        <p:spPr>
          <a:xfrm>
            <a:off x="1676095" y="4572000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D9D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tem 25"/>
          <p:cNvSpPr/>
          <p:nvPr/>
        </p:nvSpPr>
        <p:spPr>
          <a:xfrm>
            <a:off x="578815" y="5303520"/>
            <a:ext cx="2103120" cy="640080"/>
          </a:xfrm>
          <a:prstGeom prst="roundRect">
            <a:avLst>
              <a:gd name="adj" fmla="val 50000"/>
            </a:avLst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rtl="1"/>
            <a:r>
              <a:rPr sz="1600" b="1">
                <a:solidFill>
                  <a:srgbClr val="FFFFFF"/>
                </a:solidFill>
                <a:latin typeface="Segoe UI"/>
              </a:rPr>
              <a:t>اطلب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4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4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 animBg="1"/>
      <p:bldP spid="21" grpId="0"/>
      <p:bldP spid="22" grpId="0" animBg="1"/>
      <p:bldP spid="23" grpId="0" animBg="1"/>
      <p:bldP spid="24" grpId="0"/>
      <p:bldP spid="2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41424" y="365760"/>
            <a:ext cx="5852160" cy="5852160"/>
          </a:xfrm>
          <a:prstGeom prst="ellipse">
            <a:avLst/>
          </a:prstGeom>
          <a:solidFill>
            <a:srgbClr val="244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0175" y="1737360"/>
            <a:ext cx="3108960" cy="3108960"/>
          </a:xfrm>
          <a:prstGeom prst="ellipse">
            <a:avLst/>
          </a:prstGeom>
          <a:solidFill>
            <a:srgbClr val="2D5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Item 3" descr="tawla-app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40000">
            <a:off x="670255" y="1828800"/>
            <a:ext cx="2926080" cy="2926080"/>
          </a:xfrm>
          <a:prstGeom prst="rect">
            <a:avLst/>
          </a:prstGeom>
        </p:spPr>
      </p:pic>
      <p:sp>
        <p:nvSpPr>
          <p:cNvPr id="5" name="Item 4"/>
          <p:cNvSpPr txBox="1"/>
          <p:nvPr/>
        </p:nvSpPr>
        <p:spPr>
          <a:xfrm>
            <a:off x="3230575" y="731520"/>
            <a:ext cx="8229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500" b="1">
                <a:solidFill>
                  <a:srgbClr val="FFDBD1"/>
                </a:solidFill>
                <a:latin typeface="Segoe UI"/>
              </a:rPr>
              <a:t>الخطوة التالية</a:t>
            </a:r>
          </a:p>
        </p:txBody>
      </p:sp>
      <p:sp>
        <p:nvSpPr>
          <p:cNvPr id="6" name="Item 5"/>
          <p:cNvSpPr txBox="1"/>
          <p:nvPr/>
        </p:nvSpPr>
        <p:spPr>
          <a:xfrm>
            <a:off x="4144975" y="1463040"/>
            <a:ext cx="73152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7200" b="1">
                <a:solidFill>
                  <a:srgbClr val="FDF9F2"/>
                </a:solidFill>
                <a:latin typeface="Segoe UI"/>
              </a:rPr>
              <a:t>جرّبه مباشرة.</a:t>
            </a:r>
          </a:p>
        </p:txBody>
      </p:sp>
      <p:sp>
        <p:nvSpPr>
          <p:cNvPr id="7" name="Item 6"/>
          <p:cNvSpPr txBox="1"/>
          <p:nvPr/>
        </p:nvSpPr>
        <p:spPr>
          <a:xfrm>
            <a:off x="4144975" y="3383280"/>
            <a:ext cx="73152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2100" b="0">
                <a:solidFill>
                  <a:srgbClr val="FDF9F2"/>
                </a:solidFill>
                <a:latin typeface="Segoe UI"/>
              </a:rPr>
              <a:t>افتح قائمة كافيه حقيقية على جوالك وأرسل طلباً.</a:t>
            </a:r>
          </a:p>
        </p:txBody>
      </p:sp>
      <p:sp>
        <p:nvSpPr>
          <p:cNvPr id="8" name="Item 7"/>
          <p:cNvSpPr/>
          <p:nvPr/>
        </p:nvSpPr>
        <p:spPr>
          <a:xfrm>
            <a:off x="7985455" y="4526280"/>
            <a:ext cx="3474720" cy="868680"/>
          </a:xfrm>
          <a:prstGeom prst="roundRect">
            <a:avLst>
              <a:gd name="adj" fmla="val 50000"/>
            </a:avLst>
          </a:prstGeom>
          <a:solidFill>
            <a:srgbClr val="BA5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 rtl="1"/>
            <a:r>
              <a:rPr sz="2200" b="1">
                <a:solidFill>
                  <a:srgbClr val="FFFFFF"/>
                </a:solidFill>
                <a:latin typeface="Segoe UI"/>
              </a:rPr>
              <a:t>جرّب قائمة حيّة</a:t>
            </a:r>
          </a:p>
        </p:txBody>
      </p:sp>
      <p:sp>
        <p:nvSpPr>
          <p:cNvPr id="9" name="Item 8"/>
          <p:cNvSpPr txBox="1"/>
          <p:nvPr/>
        </p:nvSpPr>
        <p:spPr>
          <a:xfrm>
            <a:off x="4144975" y="5760720"/>
            <a:ext cx="7315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 rtl="1"/>
            <a:r>
              <a:rPr sz="1800" b="0">
                <a:solidFill>
                  <a:srgbClr val="FDF9F2"/>
                </a:solidFill>
                <a:latin typeface="Segoe UI"/>
              </a:rPr>
              <a:t>tawla.ly   ·   واتساب: [ رقمك ]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mph" presetSubtype="0" repeatCount="2000" fill="hold" grpId="1" nodeType="withEffect">
                                  <p:stCondLst>
                                    <p:cond delay="1140"/>
                                  </p:stCondLst>
                                  <p:childTnLst>
                                    <p:animScale>
                                      <p:cBhvr>
                                        <p:cTn id="23" dur="7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8" grpId="1" animBg="1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240</Words>
  <Application>Microsoft Office PowerPoint</Application>
  <PresentationFormat>شاشة عريضة</PresentationFormat>
  <Paragraphs>68</Paragraphs>
  <Slides>7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reyad alshaafi</cp:lastModifiedBy>
  <cp:revision>2</cp:revision>
  <dcterms:created xsi:type="dcterms:W3CDTF">2013-01-27T09:14:16Z</dcterms:created>
  <dcterms:modified xsi:type="dcterms:W3CDTF">2026-10-20T18:55:19Z</dcterms:modified>
  <cp:category/>
</cp:coreProperties>
</file>